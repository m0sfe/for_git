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34" autoAdjust="0"/>
  </p:normalViewPr>
  <p:slideViewPr>
    <p:cSldViewPr snapToGrid="0" snapToObjects="1">
      <p:cViewPr varScale="1">
        <p:scale>
          <a:sx n="118" d="100"/>
          <a:sy n="118" d="100"/>
        </p:scale>
        <p:origin x="44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journey leaves an observable signal about both the driver and the road ahead. RoadPulse-AI turns this raw signal into clear understanding so operations supervisors can make better decisions. We built a complete working prototype that connects hardware, software, and AI into a unified supervisor platform. Duration estimate: forty-five seconds. Transition: Let us begin with the core operational problem faced during every single trip.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Traditional systems record speed and shock, but they don't explain the root cause. A harsh brake or sudden turn leaves supervisors guessing whether the driver reacted or the road forced the reaction. We must bridge this gap to turn raw numbers into actionable insight. Duration estimate: fifty seconds. Transition: From here, we designed a system that connects physical measurement directly to operational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solution treats every trip as a continuous pipeline from the vehicle up to the supervisor dashboard. The device captures motion, extracts meaningful events, runs intelligent analysis, and delivers an understood event with a clear cause. Duration estimate: fifty seconds. Transition: And this complete chain starts with a small, robust device running right inside the vehicle.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built a working prototype using an ESP32 controller, precise IMU motion tracking, and reliable GPS positioning. Local storage and tamper protection ensure data continuity even when the vehicle loses cellular connection. Duration estimate: fifty-five seconds. Transition: After capturing these physical measurements, the data begins its journey through the entire platform.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extracts key events right at the edge and relies on local buffering to survive network dropouts. When connectivity returns, all records sync seamlessly to the backend for accurate supervisor review. Duration estimate: fifty-five seconds. Transition: But moving data is only half the battle; real value emerges when our models interpret the event.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data transport alone isn't enough; the intelligence layer turns that data into actionable understanding. We don't just log raw numbers or rely on simple thresholds. The model reviews motion features, spatial context, and historical patterns to classify likely causes. And remember, this is a decision-support tool, not an automated final judgment. Let's look at how this all comes together on the supervisor screen.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Building on that intelligence, the supervisor dashboard brings the entire operational picture into one view. You get real-time fleet overview, live tracking, and granular event details. Every alert clearly separates the reading from its interpretation and source status. It gives dispatchers the exact context they need for follow-up. Now, let's see how this entire loop executes in practice.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Moving from architecture to reality, here is how our prototype handles an active event. We start with a physical sensor reading, detect the harsh motion, process it through our backend, and display the AI classification. Supervisors get a complete trail from raw signal to recommended action. Let's examine what this means for transport operations across the region.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fleets and transport networks in Jordan, this changes how we manage road risk. We move away from blind reactive reporting toward evidence-based supervision. Dispatchers gain accumulated knowledge about recurring hazards on specific road segments. And the whole system is built to scale across diverse fleets. Today, this is a working prototype with a clear vision forward.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 wrap up, what we have built today is a working prototype connecting hardware, backend, and an intelligent dashboard. Next, we scale this to broader fleets and deepen our road memory across the network. We are ready to take your questions and show you the system in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0" y="0"/>
            <a:ext cx="9144000" cy="5143500"/>
          </a:xfrm>
          <a:prstGeom prst="rect">
            <a:avLst/>
          </a:prstGeom>
        </p:spPr>
      </p:pic>
      <p:pic>
        <p:nvPicPr>
          <p:cNvPr id="18" name="Image 1"/>
          <p:cNvPicPr>
            <a:picLocks noChangeAspect="1"/>
          </p:cNvPicPr>
          <p:nvPr/>
        </p:nvPicPr>
        <p:blipFill>
          <a:blip r:embed="rId4"/>
          <a:stretch>
            <a:fillRect/>
          </a:stretch>
        </p:blipFill>
        <p:spPr>
          <a:xfrm>
            <a:off x="397262" y="704850"/>
            <a:ext cx="4286250" cy="1352550"/>
          </a:xfrm>
          <a:prstGeom prst="rect">
            <a:avLst/>
          </a:prstGeom>
        </p:spPr>
      </p:pic>
      <p:sp>
        <p:nvSpPr>
          <p:cNvPr id="5" name="Text 0">
            <a:extLst>
              <a:ext uri="{FF2B5EF4-FFF2-40B4-BE49-F238E27FC236}">
                <a16:creationId xmlns:a16="http://schemas.microsoft.com/office/drawing/2014/main" id="{2C450078-B5FE-4189-B44B-CA466D969033}"/>
              </a:ext>
            </a:extLst>
          </p:cNvPr>
          <p:cNvSpPr>
            <a:spLocks noGrp="1"/>
          </p:cNvSpPr>
          <p:nvPr/>
        </p:nvSpPr>
        <p:spPr>
          <a:xfrm>
            <a:off x="609600" y="2536621"/>
            <a:ext cx="4381500" cy="48768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CONNECTED ROAD &amp; DRIVER SAFETY INTELLIGENCE</a:t>
            </a:r>
            <a:endParaRPr sz="2000" dirty="0"/>
          </a:p>
        </p:txBody>
      </p:sp>
      <p:sp>
        <p:nvSpPr>
          <p:cNvPr id="7" name="Text 2">
            <a:extLst>
              <a:ext uri="{FF2B5EF4-FFF2-40B4-BE49-F238E27FC236}">
                <a16:creationId xmlns:a16="http://schemas.microsoft.com/office/drawing/2014/main" id="{91750152-F29F-4A77-8D1F-E7DA049A0D0B}"/>
              </a:ext>
            </a:extLst>
          </p:cNvPr>
          <p:cNvSpPr>
            <a:spLocks noGrp="1"/>
          </p:cNvSpPr>
          <p:nvPr/>
        </p:nvSpPr>
        <p:spPr>
          <a:xfrm>
            <a:off x="609600" y="3086100"/>
            <a:ext cx="4286250" cy="781050"/>
          </a:xfrm>
          <a:prstGeom prst="rect">
            <a:avLst/>
          </a:prstGeom>
          <a:noFill/>
        </p:spPr>
        <p:txBody>
          <a:bodyPr wrap="square" lIns="0" tIns="0" rIns="0" bIns="0" anchor="ctr">
            <a:noAutofit/>
          </a:bodyPr>
          <a:lstStyle/>
          <a:p>
            <a:pPr marL="0" indent="0" algn="l">
              <a:lnSpc>
                <a:spcPct val="108000"/>
              </a:lnSpc>
              <a:buNone/>
              <a:defRPr sz="1800" b="0">
                <a:solidFill>
                  <a:srgbClr val="BBC6D4"/>
                </a:solidFill>
                <a:latin typeface="Aptos"/>
                <a:ea typeface="Aptos"/>
                <a:cs typeface="Aptos"/>
              </a:defRPr>
            </a:pPr>
            <a:r>
              <a:rPr sz="1800" b="0">
                <a:solidFill>
                  <a:srgbClr val="BBC6D4"/>
                </a:solidFill>
                <a:latin typeface="Aptos"/>
                <a:ea typeface="Aptos"/>
                <a:cs typeface="Aptos"/>
              </a:rPr>
              <a:t>Intelligence that understands the driver</a:t>
            </a:r>
            <a:endParaRPr sz="1050"/>
          </a:p>
          <a:p>
            <a:pPr marL="0" indent="0" algn="l">
              <a:lnSpc>
                <a:spcPct val="108000"/>
              </a:lnSpc>
              <a:buNone/>
              <a:defRPr sz="1800" b="0">
                <a:solidFill>
                  <a:srgbClr val="BBC6D4"/>
                </a:solidFill>
                <a:latin typeface="Aptos"/>
                <a:ea typeface="Aptos"/>
                <a:cs typeface="Aptos"/>
              </a:defRPr>
            </a:pPr>
            <a:r>
              <a:rPr sz="1800" b="0">
                <a:solidFill>
                  <a:srgbClr val="BBC6D4"/>
                </a:solidFill>
                <a:latin typeface="Aptos"/>
                <a:ea typeface="Aptos"/>
                <a:cs typeface="Aptos"/>
              </a:rPr>
              <a:t>and remembers the road.</a:t>
            </a:r>
            <a:endParaRPr sz="1050"/>
          </a:p>
        </p:txBody>
      </p:sp>
      <p:sp>
        <p:nvSpPr>
          <p:cNvPr id="8" name="Text 3">
            <a:extLst>
              <a:ext uri="{FF2B5EF4-FFF2-40B4-BE49-F238E27FC236}">
                <a16:creationId xmlns:a16="http://schemas.microsoft.com/office/drawing/2014/main" id="{C7C75B82-4006-4980-8F9E-E813455E4F48}"/>
              </a:ext>
            </a:extLst>
          </p:cNvPr>
          <p:cNvSpPr>
            <a:spLocks noGrp="1"/>
          </p:cNvSpPr>
          <p:nvPr/>
        </p:nvSpPr>
        <p:spPr>
          <a:xfrm>
            <a:off x="5391150" y="1200150"/>
            <a:ext cx="3143250" cy="34290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800" b="1" dirty="0">
                <a:solidFill>
                  <a:srgbClr val="F7FAFC"/>
                </a:solidFill>
                <a:latin typeface="Aptos"/>
                <a:ea typeface="Aptos"/>
                <a:cs typeface="Aptos"/>
              </a:rPr>
              <a:t>Change The Future</a:t>
            </a:r>
            <a:endParaRPr sz="1300" dirty="0"/>
          </a:p>
        </p:txBody>
      </p:sp>
      <p:sp>
        <p:nvSpPr>
          <p:cNvPr id="9" name="Text 4">
            <a:extLst>
              <a:ext uri="{FF2B5EF4-FFF2-40B4-BE49-F238E27FC236}">
                <a16:creationId xmlns:a16="http://schemas.microsoft.com/office/drawing/2014/main" id="{92842130-E066-4C96-9B5D-9C3A949B10CC}"/>
              </a:ext>
            </a:extLst>
          </p:cNvPr>
          <p:cNvSpPr>
            <a:spLocks noGrp="1"/>
          </p:cNvSpPr>
          <p:nvPr/>
        </p:nvSpPr>
        <p:spPr>
          <a:xfrm>
            <a:off x="5391150" y="1600200"/>
            <a:ext cx="3143250" cy="1365504"/>
          </a:xfrm>
          <a:prstGeom prst="rect">
            <a:avLst/>
          </a:prstGeom>
          <a:noFill/>
        </p:spPr>
        <p:txBody>
          <a:bodyPr wrap="square" lIns="0" tIns="0" rIns="0" bIns="0" anchor="ctr">
            <a:noAutofit/>
          </a:bodyPr>
          <a:lstStyle/>
          <a:p>
            <a:pPr marL="0" indent="0" algn="l">
              <a:lnSpc>
                <a:spcPct val="140000"/>
              </a:lnSpc>
              <a:buNone/>
              <a:defRPr sz="1600" b="0">
                <a:solidFill>
                  <a:srgbClr val="BBC6D4"/>
                </a:solidFill>
                <a:latin typeface="Aptos"/>
                <a:ea typeface="Aptos"/>
                <a:cs typeface="Aptos"/>
              </a:defRPr>
            </a:pPr>
            <a:r>
              <a:rPr sz="1600" b="0" dirty="0">
                <a:solidFill>
                  <a:srgbClr val="BBC6D4"/>
                </a:solidFill>
                <a:latin typeface="Aptos"/>
                <a:ea typeface="Aptos"/>
                <a:cs typeface="Aptos"/>
              </a:rPr>
              <a:t>Zaid Alshobaki</a:t>
            </a:r>
            <a:endParaRPr sz="800" dirty="0"/>
          </a:p>
          <a:p>
            <a:pPr marL="0" indent="0" algn="l">
              <a:lnSpc>
                <a:spcPct val="140000"/>
              </a:lnSpc>
              <a:buNone/>
              <a:defRPr sz="1600" b="0">
                <a:solidFill>
                  <a:srgbClr val="BBC6D4"/>
                </a:solidFill>
                <a:latin typeface="Aptos"/>
                <a:ea typeface="Aptos"/>
                <a:cs typeface="Aptos"/>
              </a:defRPr>
            </a:pPr>
            <a:r>
              <a:rPr sz="1600" b="0" dirty="0">
                <a:solidFill>
                  <a:srgbClr val="BBC6D4"/>
                </a:solidFill>
                <a:latin typeface="Aptos"/>
                <a:ea typeface="Aptos"/>
                <a:cs typeface="Aptos"/>
              </a:rPr>
              <a:t>Mohammad Alkharabsheh</a:t>
            </a:r>
            <a:endParaRPr sz="800" dirty="0"/>
          </a:p>
          <a:p>
            <a:pPr marL="0" indent="0" algn="l">
              <a:lnSpc>
                <a:spcPct val="140000"/>
              </a:lnSpc>
              <a:buNone/>
              <a:defRPr sz="1600" b="0">
                <a:solidFill>
                  <a:srgbClr val="BBC6D4"/>
                </a:solidFill>
                <a:latin typeface="Aptos"/>
                <a:ea typeface="Aptos"/>
                <a:cs typeface="Aptos"/>
              </a:defRPr>
            </a:pPr>
            <a:r>
              <a:rPr sz="1600" b="0" dirty="0">
                <a:solidFill>
                  <a:srgbClr val="BBC6D4"/>
                </a:solidFill>
                <a:latin typeface="Aptos"/>
                <a:ea typeface="Aptos"/>
                <a:cs typeface="Aptos"/>
              </a:rPr>
              <a:t>Kosay Elkady</a:t>
            </a:r>
            <a:endParaRPr sz="800" dirty="0"/>
          </a:p>
          <a:p>
            <a:pPr marL="0" indent="0" algn="l">
              <a:lnSpc>
                <a:spcPct val="140000"/>
              </a:lnSpc>
              <a:buNone/>
              <a:defRPr sz="1600" b="0">
                <a:solidFill>
                  <a:srgbClr val="BBC6D4"/>
                </a:solidFill>
                <a:latin typeface="Aptos"/>
                <a:ea typeface="Aptos"/>
                <a:cs typeface="Aptos"/>
              </a:defRPr>
            </a:pPr>
            <a:r>
              <a:rPr sz="1600" b="0" dirty="0">
                <a:solidFill>
                  <a:srgbClr val="BBC6D4"/>
                </a:solidFill>
                <a:latin typeface="Aptos"/>
                <a:ea typeface="Aptos"/>
                <a:cs typeface="Aptos"/>
              </a:rPr>
              <a:t>Reem Albanna</a:t>
            </a:r>
            <a:endParaRPr sz="800" dirty="0"/>
          </a:p>
        </p:txBody>
      </p:sp>
      <p:sp>
        <p:nvSpPr>
          <p:cNvPr id="10" name="Text 5">
            <a:extLst>
              <a:ext uri="{FF2B5EF4-FFF2-40B4-BE49-F238E27FC236}">
                <a16:creationId xmlns:a16="http://schemas.microsoft.com/office/drawing/2014/main" id="{ACBC4BE0-FFFE-4564-B099-A48222455725}"/>
              </a:ext>
            </a:extLst>
          </p:cNvPr>
          <p:cNvSpPr>
            <a:spLocks noGrp="1"/>
          </p:cNvSpPr>
          <p:nvPr/>
        </p:nvSpPr>
        <p:spPr>
          <a:xfrm>
            <a:off x="5391150" y="3105150"/>
            <a:ext cx="3143250" cy="994867"/>
          </a:xfrm>
          <a:prstGeom prst="rect">
            <a:avLst/>
          </a:prstGeom>
          <a:noFill/>
        </p:spPr>
        <p:txBody>
          <a:bodyPr wrap="square" lIns="0" tIns="0" rIns="0" bIns="0" anchor="ctr">
            <a:noAutofit/>
          </a:bodyPr>
          <a:lstStyle/>
          <a:p>
            <a:pPr marL="0" indent="0" algn="l">
              <a:lnSpc>
                <a:spcPct val="136000"/>
              </a:lnSpc>
              <a:buNone/>
              <a:defRPr sz="1600" b="0">
                <a:solidFill>
                  <a:srgbClr val="8FA0B3"/>
                </a:solidFill>
                <a:latin typeface="Aptos"/>
                <a:ea typeface="Aptos"/>
                <a:cs typeface="Aptos"/>
              </a:defRPr>
            </a:pPr>
            <a:r>
              <a:rPr sz="1600" b="0" dirty="0">
                <a:solidFill>
                  <a:srgbClr val="8FA0B3"/>
                </a:solidFill>
                <a:latin typeface="Aptos"/>
                <a:ea typeface="Aptos"/>
                <a:cs typeface="Aptos"/>
              </a:rPr>
              <a:t>JSYP 2026 Hackathon</a:t>
            </a:r>
            <a:endParaRPr sz="750" dirty="0"/>
          </a:p>
          <a:p>
            <a:pPr marL="0" indent="0" algn="l">
              <a:lnSpc>
                <a:spcPct val="136000"/>
              </a:lnSpc>
              <a:buNone/>
              <a:defRPr sz="1600" b="0">
                <a:solidFill>
                  <a:srgbClr val="8FA0B3"/>
                </a:solidFill>
                <a:latin typeface="Aptos"/>
                <a:ea typeface="Aptos"/>
                <a:cs typeface="Aptos"/>
              </a:defRPr>
            </a:pPr>
            <a:r>
              <a:rPr sz="1600" b="0" dirty="0">
                <a:solidFill>
                  <a:srgbClr val="8FA0B3"/>
                </a:solidFill>
                <a:latin typeface="Aptos"/>
                <a:ea typeface="Aptos"/>
                <a:cs typeface="Aptos"/>
              </a:rPr>
              <a:t>Final Presentation · Transportation Sector</a:t>
            </a:r>
            <a:endParaRPr sz="750" dirty="0"/>
          </a:p>
        </p:txBody>
      </p:sp>
      <p:sp>
        <p:nvSpPr>
          <p:cNvPr id="11" name="Shape 6">
            <a:extLst>
              <a:ext uri="{FF2B5EF4-FFF2-40B4-BE49-F238E27FC236}">
                <a16:creationId xmlns:a16="http://schemas.microsoft.com/office/drawing/2014/main" id="{45CA480B-2EC4-43F9-922F-1AFD1CE4E9D3}"/>
              </a:ext>
            </a:extLst>
          </p:cNvPr>
          <p:cNvSpPr>
            <a:spLocks noGrp="1"/>
          </p:cNvSpPr>
          <p:nvPr/>
        </p:nvSpPr>
        <p:spPr>
          <a:xfrm>
            <a:off x="628650" y="4757738"/>
            <a:ext cx="7886700" cy="185738"/>
          </a:xfrm>
          <a:prstGeom prst="rect">
            <a:avLst/>
          </a:prstGeom>
          <a:solidFill>
            <a:srgbClr val="000000">
              <a:alpha val="0"/>
            </a:srgbClr>
          </a:solidFill>
        </p:spPr>
        <p:txBody>
          <a:bodyPr/>
          <a:lstStyle/>
          <a:p>
            <a:endParaRPr lang="en-US"/>
          </a:p>
        </p:txBody>
      </p:sp>
      <p:sp>
        <p:nvSpPr>
          <p:cNvPr id="12" name="Shape 7">
            <a:extLst>
              <a:ext uri="{FF2B5EF4-FFF2-40B4-BE49-F238E27FC236}">
                <a16:creationId xmlns:a16="http://schemas.microsoft.com/office/drawing/2014/main" id="{863DFA0D-E61F-49F9-9DF1-7AB6CEB9F864}"/>
              </a:ext>
            </a:extLst>
          </p:cNvPr>
          <p:cNvSpPr>
            <a:spLocks noGrp="1"/>
          </p:cNvSpPr>
          <p:nvPr/>
        </p:nvSpPr>
        <p:spPr>
          <a:xfrm>
            <a:off x="628650" y="4757738"/>
            <a:ext cx="7886700" cy="7144"/>
          </a:xfrm>
          <a:prstGeom prst="rect">
            <a:avLst/>
          </a:prstGeom>
          <a:solidFill>
            <a:srgbClr val="FFFFFF"/>
          </a:solidFill>
        </p:spPr>
        <p:txBody>
          <a:bodyPr/>
          <a:lstStyle/>
          <a:p>
            <a:endParaRPr lang="en-US"/>
          </a:p>
        </p:txBody>
      </p:sp>
      <p:sp>
        <p:nvSpPr>
          <p:cNvPr id="13" name="Text 8">
            <a:extLst>
              <a:ext uri="{FF2B5EF4-FFF2-40B4-BE49-F238E27FC236}">
                <a16:creationId xmlns:a16="http://schemas.microsoft.com/office/drawing/2014/main" id="{FE77D4A8-40AE-42FC-BEE4-4BD6DEA36BB4}"/>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14" name="Text 9">
            <a:extLst>
              <a:ext uri="{FF2B5EF4-FFF2-40B4-BE49-F238E27FC236}">
                <a16:creationId xmlns:a16="http://schemas.microsoft.com/office/drawing/2014/main" id="{267D4F90-86CC-43F9-BF15-36A3AC34D39D}"/>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01 / 10</a:t>
            </a:r>
            <a:endParaRPr sz="600"/>
          </a:p>
        </p:txBody>
      </p:sp>
    </p:spTree>
    <p:extLst>
      <p:ext uri="{BB962C8B-B14F-4D97-AF65-F5344CB8AC3E}">
        <p14:creationId xmlns:p14="http://schemas.microsoft.com/office/powerpoint/2010/main" val="1399833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0"/>
          <p:cNvPicPr>
            <a:picLocks noChangeAspect="1"/>
          </p:cNvPicPr>
          <p:nvPr/>
        </p:nvPicPr>
        <p:blipFill>
          <a:blip r:embed="rId3"/>
          <a:stretch>
            <a:fillRect/>
          </a:stretch>
        </p:blipFill>
        <p:spPr>
          <a:xfrm>
            <a:off x="0" y="0"/>
            <a:ext cx="9144000" cy="5143500"/>
          </a:xfrm>
          <a:prstGeom prst="rect">
            <a:avLst/>
          </a:prstGeom>
        </p:spPr>
      </p:pic>
      <p:sp>
        <p:nvSpPr>
          <p:cNvPr id="4" name="Shape 0">
            <a:extLst>
              <a:ext uri="{FF2B5EF4-FFF2-40B4-BE49-F238E27FC236}">
                <a16:creationId xmlns:a16="http://schemas.microsoft.com/office/drawing/2014/main" id="{68939468-AB08-40B8-8341-CE8C606350EE}"/>
              </a:ext>
            </a:extLst>
          </p:cNvPr>
          <p:cNvSpPr>
            <a:spLocks noGrp="1"/>
          </p:cNvSpPr>
          <p:nvPr/>
        </p:nvSpPr>
        <p:spPr>
          <a:xfrm>
            <a:off x="0" y="0"/>
            <a:ext cx="4389120" cy="5143500"/>
          </a:xfrm>
          <a:prstGeom prst="rect">
            <a:avLst/>
          </a:prstGeom>
          <a:solidFill>
            <a:srgbClr val="080D14"/>
          </a:solidFill>
        </p:spPr>
        <p:txBody>
          <a:bodyPr/>
          <a:lstStyle/>
          <a:p>
            <a:endParaRPr lang="en-US"/>
          </a:p>
        </p:txBody>
      </p:sp>
      <p:pic>
        <p:nvPicPr>
          <p:cNvPr id="28" name="Image 1"/>
          <p:cNvPicPr>
            <a:picLocks noChangeAspect="1"/>
          </p:cNvPicPr>
          <p:nvPr/>
        </p:nvPicPr>
        <p:blipFill>
          <a:blip r:embed="rId4">
            <a:alphaModFix amt="72000"/>
          </a:blip>
          <a:stretch>
            <a:fillRect/>
          </a:stretch>
        </p:blipFill>
        <p:spPr>
          <a:xfrm>
            <a:off x="0" y="0"/>
            <a:ext cx="4000500" cy="5143500"/>
          </a:xfrm>
          <a:prstGeom prst="rect">
            <a:avLst/>
          </a:prstGeom>
        </p:spPr>
      </p:pic>
      <p:sp>
        <p:nvSpPr>
          <p:cNvPr id="6" name="Text 1">
            <a:extLst>
              <a:ext uri="{FF2B5EF4-FFF2-40B4-BE49-F238E27FC236}">
                <a16:creationId xmlns:a16="http://schemas.microsoft.com/office/drawing/2014/main" id="{936CCF66-43CA-41E7-AA1D-C8A748DCE000}"/>
              </a:ext>
            </a:extLst>
          </p:cNvPr>
          <p:cNvSpPr>
            <a:spLocks noGrp="1"/>
          </p:cNvSpPr>
          <p:nvPr/>
        </p:nvSpPr>
        <p:spPr>
          <a:xfrm>
            <a:off x="361950" y="4248150"/>
            <a:ext cx="2381250" cy="2857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1" dirty="0">
                <a:solidFill>
                  <a:srgbClr val="00C8F8"/>
                </a:solidFill>
                <a:latin typeface="Aptos"/>
                <a:ea typeface="Aptos"/>
                <a:cs typeface="Aptos"/>
              </a:rPr>
              <a:t>01 / THE PROBLEM</a:t>
            </a:r>
            <a:endParaRPr sz="2000" dirty="0"/>
          </a:p>
        </p:txBody>
      </p:sp>
      <p:sp>
        <p:nvSpPr>
          <p:cNvPr id="7" name="Shape 2">
            <a:extLst>
              <a:ext uri="{FF2B5EF4-FFF2-40B4-BE49-F238E27FC236}">
                <a16:creationId xmlns:a16="http://schemas.microsoft.com/office/drawing/2014/main" id="{BC8ABF47-9D54-4CF3-8779-BDD342BE0DB7}"/>
              </a:ext>
            </a:extLst>
          </p:cNvPr>
          <p:cNvSpPr>
            <a:spLocks noGrp="1"/>
          </p:cNvSpPr>
          <p:nvPr/>
        </p:nvSpPr>
        <p:spPr>
          <a:xfrm>
            <a:off x="0" y="0"/>
            <a:ext cx="4389053" cy="5143500"/>
          </a:xfrm>
          <a:prstGeom prst="rect">
            <a:avLst/>
          </a:prstGeom>
          <a:noFill/>
          <a:ln w="0">
            <a:noFill/>
            <a:prstDash val="solid"/>
          </a:ln>
        </p:spPr>
        <p:txBody>
          <a:bodyPr/>
          <a:lstStyle/>
          <a:p>
            <a:endParaRPr lang="en-US"/>
          </a:p>
        </p:txBody>
      </p:sp>
      <p:sp>
        <p:nvSpPr>
          <p:cNvPr id="8" name="Text 3">
            <a:extLst>
              <a:ext uri="{FF2B5EF4-FFF2-40B4-BE49-F238E27FC236}">
                <a16:creationId xmlns:a16="http://schemas.microsoft.com/office/drawing/2014/main" id="{B9B758A5-CD37-4289-9F75-4D5D55ECE0CB}"/>
              </a:ext>
            </a:extLst>
          </p:cNvPr>
          <p:cNvSpPr>
            <a:spLocks noGrp="1"/>
          </p:cNvSpPr>
          <p:nvPr/>
        </p:nvSpPr>
        <p:spPr>
          <a:xfrm>
            <a:off x="4288110" y="367992"/>
            <a:ext cx="417195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2000" b="1" spc="2" dirty="0">
                <a:solidFill>
                  <a:srgbClr val="00C8F8"/>
                </a:solidFill>
                <a:latin typeface="Aptos"/>
                <a:ea typeface="Aptos"/>
                <a:cs typeface="Aptos"/>
              </a:rPr>
              <a:t>WHY IT MATTERS</a:t>
            </a:r>
            <a:r>
              <a:rPr lang="ar-JO" sz="2000" b="1" spc="2" dirty="0">
                <a:solidFill>
                  <a:srgbClr val="00C8F8"/>
                </a:solidFill>
                <a:latin typeface="Aptos"/>
                <a:ea typeface="Aptos"/>
                <a:cs typeface="Aptos"/>
              </a:rPr>
              <a:t> </a:t>
            </a:r>
            <a:r>
              <a:rPr lang="en-US" sz="2000" b="1" spc="2" dirty="0">
                <a:solidFill>
                  <a:srgbClr val="00C8F8"/>
                </a:solidFill>
                <a:latin typeface="Aptos"/>
                <a:ea typeface="Aptos"/>
                <a:cs typeface="Aptos"/>
              </a:rPr>
              <a:t> ?</a:t>
            </a:r>
            <a:endParaRPr sz="2000" dirty="0"/>
          </a:p>
        </p:txBody>
      </p:sp>
      <p:sp>
        <p:nvSpPr>
          <p:cNvPr id="9" name="Text 4">
            <a:extLst>
              <a:ext uri="{FF2B5EF4-FFF2-40B4-BE49-F238E27FC236}">
                <a16:creationId xmlns:a16="http://schemas.microsoft.com/office/drawing/2014/main" id="{81005D03-F4E3-400F-ACB6-B62B51A0A893}"/>
              </a:ext>
            </a:extLst>
          </p:cNvPr>
          <p:cNvSpPr>
            <a:spLocks noGrp="1"/>
          </p:cNvSpPr>
          <p:nvPr/>
        </p:nvSpPr>
        <p:spPr>
          <a:xfrm>
            <a:off x="4267201" y="781050"/>
            <a:ext cx="4802458" cy="457200"/>
          </a:xfrm>
          <a:prstGeom prst="rect">
            <a:avLst/>
          </a:prstGeom>
          <a:noFill/>
        </p:spPr>
        <p:txBody>
          <a:bodyPr wrap="square" lIns="0" tIns="0" rIns="0" bIns="0" anchor="ctr">
            <a:noAutofit/>
          </a:bodyPr>
          <a:lstStyle/>
          <a:p>
            <a:pPr marL="0" indent="0" algn="l">
              <a:lnSpc>
                <a:spcPct val="94400"/>
              </a:lnSpc>
              <a:buNone/>
              <a:defRPr sz="2600" b="1">
                <a:solidFill>
                  <a:srgbClr val="F7FAFC"/>
                </a:solidFill>
                <a:latin typeface="Aptos"/>
                <a:ea typeface="Aptos"/>
                <a:cs typeface="Aptos"/>
              </a:defRPr>
            </a:pPr>
            <a:r>
              <a:rPr sz="2400" b="1" dirty="0">
                <a:solidFill>
                  <a:srgbClr val="F7FAFC"/>
                </a:solidFill>
                <a:latin typeface="Aptos"/>
                <a:ea typeface="Aptos"/>
                <a:cs typeface="Aptos"/>
              </a:rPr>
              <a:t>The event is not the explanation</a:t>
            </a:r>
            <a:endParaRPr sz="2400" dirty="0"/>
          </a:p>
        </p:txBody>
      </p:sp>
      <p:sp>
        <p:nvSpPr>
          <p:cNvPr id="10" name="Text 5">
            <a:extLst>
              <a:ext uri="{FF2B5EF4-FFF2-40B4-BE49-F238E27FC236}">
                <a16:creationId xmlns:a16="http://schemas.microsoft.com/office/drawing/2014/main" id="{6D2C241C-B774-4ED4-A7CD-CAA3A0E7FA9D}"/>
              </a:ext>
            </a:extLst>
          </p:cNvPr>
          <p:cNvSpPr>
            <a:spLocks noGrp="1"/>
          </p:cNvSpPr>
          <p:nvPr/>
        </p:nvSpPr>
        <p:spPr>
          <a:xfrm>
            <a:off x="4362450" y="1295400"/>
            <a:ext cx="4171950" cy="546202"/>
          </a:xfrm>
          <a:prstGeom prst="rect">
            <a:avLst/>
          </a:prstGeom>
          <a:noFill/>
        </p:spPr>
        <p:txBody>
          <a:bodyPr wrap="square" lIns="0" tIns="0" rIns="0" bIns="0" anchor="ctr">
            <a:noAutofit/>
          </a:bodyPr>
          <a:lstStyle/>
          <a:p>
            <a:pPr marL="0" indent="0" algn="l">
              <a:lnSpc>
                <a:spcPct val="112000"/>
              </a:lnSpc>
              <a:buNone/>
              <a:defRPr sz="1600" b="0">
                <a:solidFill>
                  <a:srgbClr val="BBC6D4"/>
                </a:solidFill>
                <a:latin typeface="Aptos"/>
                <a:ea typeface="Aptos"/>
                <a:cs typeface="Aptos"/>
              </a:defRPr>
            </a:pPr>
            <a:r>
              <a:rPr sz="1600" b="0" dirty="0">
                <a:solidFill>
                  <a:srgbClr val="BBC6D4"/>
                </a:solidFill>
                <a:latin typeface="Aptos"/>
                <a:ea typeface="Aptos"/>
                <a:cs typeface="Aptos"/>
              </a:rPr>
              <a:t>Telemetry shows what happened. Operations still need to know why.</a:t>
            </a:r>
            <a:endParaRPr sz="900" dirty="0"/>
          </a:p>
        </p:txBody>
      </p:sp>
      <p:sp>
        <p:nvSpPr>
          <p:cNvPr id="11" name="Text 6">
            <a:extLst>
              <a:ext uri="{FF2B5EF4-FFF2-40B4-BE49-F238E27FC236}">
                <a16:creationId xmlns:a16="http://schemas.microsoft.com/office/drawing/2014/main" id="{508285B4-EBA3-4691-811D-5BCF3C3BFE6E}"/>
              </a:ext>
            </a:extLst>
          </p:cNvPr>
          <p:cNvSpPr>
            <a:spLocks noGrp="1"/>
          </p:cNvSpPr>
          <p:nvPr/>
        </p:nvSpPr>
        <p:spPr>
          <a:xfrm>
            <a:off x="4362450" y="1952625"/>
            <a:ext cx="323850" cy="30480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a:solidFill>
                  <a:srgbClr val="F5A623"/>
                </a:solidFill>
                <a:latin typeface="Aptos"/>
                <a:ea typeface="Aptos"/>
                <a:cs typeface="Aptos"/>
              </a:rPr>
              <a:t>01</a:t>
            </a:r>
            <a:endParaRPr sz="750"/>
          </a:p>
        </p:txBody>
      </p:sp>
      <p:sp>
        <p:nvSpPr>
          <p:cNvPr id="12" name="Text 7">
            <a:extLst>
              <a:ext uri="{FF2B5EF4-FFF2-40B4-BE49-F238E27FC236}">
                <a16:creationId xmlns:a16="http://schemas.microsoft.com/office/drawing/2014/main" id="{16D19684-A331-475A-A707-CC816B445796}"/>
              </a:ext>
            </a:extLst>
          </p:cNvPr>
          <p:cNvSpPr>
            <a:spLocks noGrp="1"/>
          </p:cNvSpPr>
          <p:nvPr/>
        </p:nvSpPr>
        <p:spPr>
          <a:xfrm>
            <a:off x="4800600" y="1952625"/>
            <a:ext cx="3733800" cy="361950"/>
          </a:xfrm>
          <a:prstGeom prst="rect">
            <a:avLst/>
          </a:prstGeom>
          <a:noFill/>
        </p:spPr>
        <p:txBody>
          <a:bodyPr wrap="square" lIns="0" tIns="0" rIns="0" bIns="0" anchor="ctr">
            <a:noAutofit/>
          </a:bodyPr>
          <a:lstStyle/>
          <a:p>
            <a:pPr marL="0" indent="0" algn="l">
              <a:lnSpc>
                <a:spcPct val="110400"/>
              </a:lnSpc>
              <a:buNone/>
              <a:defRPr sz="1600" b="0">
                <a:solidFill>
                  <a:srgbClr val="F7FAFC"/>
                </a:solidFill>
                <a:latin typeface="Aptos"/>
                <a:ea typeface="Aptos"/>
                <a:cs typeface="Aptos"/>
              </a:defRPr>
            </a:pPr>
            <a:r>
              <a:rPr sz="1600" b="0">
                <a:solidFill>
                  <a:srgbClr val="F7FAFC"/>
                </a:solidFill>
                <a:latin typeface="Aptos"/>
                <a:ea typeface="Aptos"/>
                <a:cs typeface="Aptos"/>
              </a:rPr>
              <a:t>A sudden event does not reveal its cause.</a:t>
            </a:r>
            <a:endParaRPr sz="850"/>
          </a:p>
        </p:txBody>
      </p:sp>
      <p:sp>
        <p:nvSpPr>
          <p:cNvPr id="13" name="Text 8">
            <a:extLst>
              <a:ext uri="{FF2B5EF4-FFF2-40B4-BE49-F238E27FC236}">
                <a16:creationId xmlns:a16="http://schemas.microsoft.com/office/drawing/2014/main" id="{9F81DD1B-B541-4C68-944E-74F61FC58994}"/>
              </a:ext>
            </a:extLst>
          </p:cNvPr>
          <p:cNvSpPr>
            <a:spLocks noGrp="1"/>
          </p:cNvSpPr>
          <p:nvPr/>
        </p:nvSpPr>
        <p:spPr>
          <a:xfrm>
            <a:off x="4362450" y="2428875"/>
            <a:ext cx="323850" cy="30480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a:solidFill>
                  <a:srgbClr val="F5A623"/>
                </a:solidFill>
                <a:latin typeface="Aptos"/>
                <a:ea typeface="Aptos"/>
                <a:cs typeface="Aptos"/>
              </a:rPr>
              <a:t>02</a:t>
            </a:r>
            <a:endParaRPr sz="750"/>
          </a:p>
        </p:txBody>
      </p:sp>
      <p:sp>
        <p:nvSpPr>
          <p:cNvPr id="14" name="Text 9">
            <a:extLst>
              <a:ext uri="{FF2B5EF4-FFF2-40B4-BE49-F238E27FC236}">
                <a16:creationId xmlns:a16="http://schemas.microsoft.com/office/drawing/2014/main" id="{8F427262-7F1A-4DF8-8D66-51E405825B67}"/>
              </a:ext>
            </a:extLst>
          </p:cNvPr>
          <p:cNvSpPr>
            <a:spLocks noGrp="1"/>
          </p:cNvSpPr>
          <p:nvPr/>
        </p:nvSpPr>
        <p:spPr>
          <a:xfrm>
            <a:off x="4800600" y="2361969"/>
            <a:ext cx="3733800" cy="361950"/>
          </a:xfrm>
          <a:prstGeom prst="rect">
            <a:avLst/>
          </a:prstGeom>
          <a:noFill/>
        </p:spPr>
        <p:txBody>
          <a:bodyPr wrap="square" lIns="0" tIns="0" rIns="0" bIns="0" anchor="ctr">
            <a:noAutofit/>
          </a:bodyPr>
          <a:lstStyle/>
          <a:p>
            <a:pPr marL="0" indent="0" algn="l">
              <a:lnSpc>
                <a:spcPct val="110400"/>
              </a:lnSpc>
              <a:buNone/>
              <a:defRPr sz="1600" b="0">
                <a:solidFill>
                  <a:srgbClr val="F7FAFC"/>
                </a:solidFill>
                <a:latin typeface="Aptos"/>
                <a:ea typeface="Aptos"/>
                <a:cs typeface="Aptos"/>
              </a:defRPr>
            </a:pPr>
            <a:r>
              <a:rPr sz="1600" b="0" dirty="0">
                <a:solidFill>
                  <a:srgbClr val="F7FAFC"/>
                </a:solidFill>
                <a:latin typeface="Aptos"/>
                <a:ea typeface="Aptos"/>
                <a:cs typeface="Aptos"/>
              </a:rPr>
              <a:t>The driver or the road may be responsible.</a:t>
            </a:r>
            <a:endParaRPr sz="850" dirty="0"/>
          </a:p>
        </p:txBody>
      </p:sp>
      <p:sp>
        <p:nvSpPr>
          <p:cNvPr id="15" name="Text 10">
            <a:extLst>
              <a:ext uri="{FF2B5EF4-FFF2-40B4-BE49-F238E27FC236}">
                <a16:creationId xmlns:a16="http://schemas.microsoft.com/office/drawing/2014/main" id="{A0776A46-4B0A-467F-9AE9-3C6390E28EA5}"/>
              </a:ext>
            </a:extLst>
          </p:cNvPr>
          <p:cNvSpPr>
            <a:spLocks noGrp="1"/>
          </p:cNvSpPr>
          <p:nvPr/>
        </p:nvSpPr>
        <p:spPr>
          <a:xfrm>
            <a:off x="4362450" y="2838219"/>
            <a:ext cx="323850" cy="30480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dirty="0">
                <a:solidFill>
                  <a:srgbClr val="F5A623"/>
                </a:solidFill>
                <a:latin typeface="Aptos"/>
                <a:ea typeface="Aptos"/>
                <a:cs typeface="Aptos"/>
              </a:rPr>
              <a:t>03</a:t>
            </a:r>
            <a:endParaRPr sz="750" dirty="0"/>
          </a:p>
        </p:txBody>
      </p:sp>
      <p:sp>
        <p:nvSpPr>
          <p:cNvPr id="16" name="Text 11">
            <a:extLst>
              <a:ext uri="{FF2B5EF4-FFF2-40B4-BE49-F238E27FC236}">
                <a16:creationId xmlns:a16="http://schemas.microsoft.com/office/drawing/2014/main" id="{2DC3A297-EF56-474A-9240-95947C0039BA}"/>
              </a:ext>
            </a:extLst>
          </p:cNvPr>
          <p:cNvSpPr>
            <a:spLocks noGrp="1"/>
          </p:cNvSpPr>
          <p:nvPr/>
        </p:nvSpPr>
        <p:spPr>
          <a:xfrm>
            <a:off x="4800600" y="2786181"/>
            <a:ext cx="3733800" cy="361950"/>
          </a:xfrm>
          <a:prstGeom prst="rect">
            <a:avLst/>
          </a:prstGeom>
          <a:noFill/>
        </p:spPr>
        <p:txBody>
          <a:bodyPr wrap="square" lIns="0" tIns="0" rIns="0" bIns="0" anchor="ctr">
            <a:noAutofit/>
          </a:bodyPr>
          <a:lstStyle/>
          <a:p>
            <a:pPr marL="0" indent="0" algn="l">
              <a:lnSpc>
                <a:spcPct val="110400"/>
              </a:lnSpc>
              <a:buNone/>
              <a:defRPr sz="1600" b="0">
                <a:solidFill>
                  <a:srgbClr val="F7FAFC"/>
                </a:solidFill>
                <a:latin typeface="Aptos"/>
                <a:ea typeface="Aptos"/>
                <a:cs typeface="Aptos"/>
              </a:defRPr>
            </a:pPr>
            <a:r>
              <a:rPr sz="1600" b="0" dirty="0">
                <a:solidFill>
                  <a:srgbClr val="F7FAFC"/>
                </a:solidFill>
                <a:latin typeface="Aptos"/>
                <a:ea typeface="Aptos"/>
                <a:cs typeface="Aptos"/>
              </a:rPr>
              <a:t>Context turns readings into evidence.</a:t>
            </a:r>
            <a:endParaRPr sz="850" dirty="0"/>
          </a:p>
        </p:txBody>
      </p:sp>
      <p:sp>
        <p:nvSpPr>
          <p:cNvPr id="17" name="Text 12">
            <a:extLst>
              <a:ext uri="{FF2B5EF4-FFF2-40B4-BE49-F238E27FC236}">
                <a16:creationId xmlns:a16="http://schemas.microsoft.com/office/drawing/2014/main" id="{B069FA8C-E181-4029-8899-0270707E15F7}"/>
              </a:ext>
            </a:extLst>
          </p:cNvPr>
          <p:cNvSpPr>
            <a:spLocks noGrp="1"/>
          </p:cNvSpPr>
          <p:nvPr/>
        </p:nvSpPr>
        <p:spPr>
          <a:xfrm>
            <a:off x="4362450" y="3359073"/>
            <a:ext cx="323850" cy="30480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dirty="0">
                <a:solidFill>
                  <a:srgbClr val="F5A623"/>
                </a:solidFill>
                <a:latin typeface="Aptos"/>
                <a:ea typeface="Aptos"/>
                <a:cs typeface="Aptos"/>
              </a:rPr>
              <a:t>04</a:t>
            </a:r>
            <a:endParaRPr sz="750" dirty="0"/>
          </a:p>
        </p:txBody>
      </p:sp>
      <p:sp>
        <p:nvSpPr>
          <p:cNvPr id="18" name="Text 13">
            <a:extLst>
              <a:ext uri="{FF2B5EF4-FFF2-40B4-BE49-F238E27FC236}">
                <a16:creationId xmlns:a16="http://schemas.microsoft.com/office/drawing/2014/main" id="{89E884A1-572C-4B42-81B1-04771F59FDCC}"/>
              </a:ext>
            </a:extLst>
          </p:cNvPr>
          <p:cNvSpPr>
            <a:spLocks noGrp="1"/>
          </p:cNvSpPr>
          <p:nvPr/>
        </p:nvSpPr>
        <p:spPr>
          <a:xfrm>
            <a:off x="4800600" y="3314469"/>
            <a:ext cx="3733800" cy="361950"/>
          </a:xfrm>
          <a:prstGeom prst="rect">
            <a:avLst/>
          </a:prstGeom>
          <a:noFill/>
        </p:spPr>
        <p:txBody>
          <a:bodyPr wrap="square" lIns="0" tIns="0" rIns="0" bIns="0" anchor="ctr">
            <a:noAutofit/>
          </a:bodyPr>
          <a:lstStyle/>
          <a:p>
            <a:pPr marL="0" indent="0" algn="l">
              <a:lnSpc>
                <a:spcPct val="110400"/>
              </a:lnSpc>
              <a:buNone/>
              <a:defRPr sz="1600" b="0">
                <a:solidFill>
                  <a:srgbClr val="F7FAFC"/>
                </a:solidFill>
                <a:latin typeface="Aptos"/>
                <a:ea typeface="Aptos"/>
                <a:cs typeface="Aptos"/>
              </a:defRPr>
            </a:pPr>
            <a:r>
              <a:rPr sz="1600" b="0" dirty="0">
                <a:solidFill>
                  <a:srgbClr val="F7FAFC"/>
                </a:solidFill>
                <a:latin typeface="Aptos"/>
                <a:ea typeface="Aptos"/>
                <a:cs typeface="Aptos"/>
              </a:rPr>
              <a:t>Supervisors need clarity during every trip.</a:t>
            </a:r>
            <a:endParaRPr sz="850" dirty="0"/>
          </a:p>
        </p:txBody>
      </p:sp>
      <p:sp>
        <p:nvSpPr>
          <p:cNvPr id="19" name="Text 14">
            <a:extLst>
              <a:ext uri="{FF2B5EF4-FFF2-40B4-BE49-F238E27FC236}">
                <a16:creationId xmlns:a16="http://schemas.microsoft.com/office/drawing/2014/main" id="{569E64E0-9B24-4951-950C-FB155BCA18C9}"/>
              </a:ext>
            </a:extLst>
          </p:cNvPr>
          <p:cNvSpPr>
            <a:spLocks noGrp="1"/>
          </p:cNvSpPr>
          <p:nvPr/>
        </p:nvSpPr>
        <p:spPr>
          <a:xfrm>
            <a:off x="4362450" y="3962400"/>
            <a:ext cx="4171950" cy="552450"/>
          </a:xfrm>
          <a:prstGeom prst="rect">
            <a:avLst/>
          </a:prstGeom>
          <a:noFill/>
        </p:spPr>
        <p:txBody>
          <a:bodyPr wrap="square" lIns="0" tIns="0" rIns="0" bIns="0" anchor="ctr">
            <a:noAutofit/>
          </a:bodyPr>
          <a:lstStyle/>
          <a:p>
            <a:pPr marL="0" indent="0" algn="l">
              <a:lnSpc>
                <a:spcPct val="100000"/>
              </a:lnSpc>
              <a:buNone/>
              <a:defRPr sz="1800" b="1">
                <a:solidFill>
                  <a:srgbClr val="F7FAFC"/>
                </a:solidFill>
                <a:latin typeface="Aptos"/>
                <a:ea typeface="Aptos"/>
                <a:cs typeface="Aptos"/>
              </a:defRPr>
            </a:pPr>
            <a:r>
              <a:rPr sz="1800" b="1">
                <a:solidFill>
                  <a:srgbClr val="F7FAFC"/>
                </a:solidFill>
                <a:latin typeface="Aptos"/>
                <a:ea typeface="Aptos"/>
                <a:cs typeface="Aptos"/>
              </a:rPr>
              <a:t>Driver behavior — or road condition?</a:t>
            </a:r>
            <a:endParaRPr sz="1200"/>
          </a:p>
        </p:txBody>
      </p:sp>
      <p:sp>
        <p:nvSpPr>
          <p:cNvPr id="20" name="Shape 15">
            <a:extLst>
              <a:ext uri="{FF2B5EF4-FFF2-40B4-BE49-F238E27FC236}">
                <a16:creationId xmlns:a16="http://schemas.microsoft.com/office/drawing/2014/main" id="{980D2198-5C51-4491-9682-47476E5AE7B4}"/>
              </a:ext>
            </a:extLst>
          </p:cNvPr>
          <p:cNvSpPr>
            <a:spLocks noGrp="1"/>
          </p:cNvSpPr>
          <p:nvPr/>
        </p:nvSpPr>
        <p:spPr>
          <a:xfrm>
            <a:off x="614363" y="4807744"/>
            <a:ext cx="7915275" cy="178594"/>
          </a:xfrm>
          <a:prstGeom prst="rect">
            <a:avLst/>
          </a:prstGeom>
          <a:solidFill>
            <a:srgbClr val="000000">
              <a:alpha val="0"/>
            </a:srgbClr>
          </a:solidFill>
        </p:spPr>
        <p:txBody>
          <a:bodyPr/>
          <a:lstStyle/>
          <a:p>
            <a:endParaRPr lang="en-US"/>
          </a:p>
        </p:txBody>
      </p:sp>
      <p:sp>
        <p:nvSpPr>
          <p:cNvPr id="21" name="Shape 16">
            <a:extLst>
              <a:ext uri="{FF2B5EF4-FFF2-40B4-BE49-F238E27FC236}">
                <a16:creationId xmlns:a16="http://schemas.microsoft.com/office/drawing/2014/main" id="{B138BEE3-D83A-47EB-B3B6-3E629367F24C}"/>
              </a:ext>
            </a:extLst>
          </p:cNvPr>
          <p:cNvSpPr>
            <a:spLocks noGrp="1"/>
          </p:cNvSpPr>
          <p:nvPr/>
        </p:nvSpPr>
        <p:spPr>
          <a:xfrm>
            <a:off x="614363" y="4807744"/>
            <a:ext cx="7915275" cy="7144"/>
          </a:xfrm>
          <a:prstGeom prst="rect">
            <a:avLst/>
          </a:prstGeom>
          <a:solidFill>
            <a:srgbClr val="FFFFFF"/>
          </a:solidFill>
        </p:spPr>
        <p:txBody>
          <a:bodyPr/>
          <a:lstStyle/>
          <a:p>
            <a:endParaRPr lang="en-US"/>
          </a:p>
        </p:txBody>
      </p:sp>
      <p:sp>
        <p:nvSpPr>
          <p:cNvPr id="22" name="Text 17">
            <a:extLst>
              <a:ext uri="{FF2B5EF4-FFF2-40B4-BE49-F238E27FC236}">
                <a16:creationId xmlns:a16="http://schemas.microsoft.com/office/drawing/2014/main" id="{7B8684FE-4F21-4F6E-B479-0F8A544475E5}"/>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23" name="Text 18">
            <a:extLst>
              <a:ext uri="{FF2B5EF4-FFF2-40B4-BE49-F238E27FC236}">
                <a16:creationId xmlns:a16="http://schemas.microsoft.com/office/drawing/2014/main" id="{4AD2A36D-758C-43D3-85E7-620DAE646866}"/>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02 / 10</a:t>
            </a:r>
            <a:endParaRPr sz="600"/>
          </a:p>
        </p:txBody>
      </p:sp>
    </p:spTree>
    <p:extLst>
      <p:ext uri="{BB962C8B-B14F-4D97-AF65-F5344CB8AC3E}">
        <p14:creationId xmlns:p14="http://schemas.microsoft.com/office/powerpoint/2010/main" val="33382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 0"/>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15A7122B-B2CB-4BB8-AFA9-FF06AF25879C}"/>
              </a:ext>
            </a:extLst>
          </p:cNvPr>
          <p:cNvSpPr>
            <a:spLocks noGrp="1"/>
          </p:cNvSpPr>
          <p:nvPr/>
        </p:nvSpPr>
        <p:spPr>
          <a:xfrm>
            <a:off x="609600" y="438150"/>
            <a:ext cx="792480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02 / THE SOLUTION</a:t>
            </a:r>
            <a:endParaRPr sz="2000" dirty="0"/>
          </a:p>
        </p:txBody>
      </p:sp>
      <p:sp>
        <p:nvSpPr>
          <p:cNvPr id="5" name="Text 1">
            <a:extLst>
              <a:ext uri="{FF2B5EF4-FFF2-40B4-BE49-F238E27FC236}">
                <a16:creationId xmlns:a16="http://schemas.microsoft.com/office/drawing/2014/main" id="{2D242AFC-4D7E-4977-9389-302143C399CE}"/>
              </a:ext>
            </a:extLst>
          </p:cNvPr>
          <p:cNvSpPr>
            <a:spLocks noGrp="1"/>
          </p:cNvSpPr>
          <p:nvPr/>
        </p:nvSpPr>
        <p:spPr>
          <a:xfrm>
            <a:off x="609600" y="723900"/>
            <a:ext cx="7924800" cy="476250"/>
          </a:xfrm>
          <a:prstGeom prst="rect">
            <a:avLst/>
          </a:prstGeom>
          <a:noFill/>
        </p:spPr>
        <p:txBody>
          <a:bodyPr wrap="square" lIns="0" tIns="0" rIns="0" bIns="0" anchor="ctr">
            <a:noAutofit/>
          </a:bodyPr>
          <a:lstStyle/>
          <a:p>
            <a:pPr marL="0" indent="0" algn="l">
              <a:buNone/>
              <a:defRPr sz="2600" b="1">
                <a:solidFill>
                  <a:srgbClr val="F7FAFC"/>
                </a:solidFill>
                <a:latin typeface="Aptos"/>
                <a:ea typeface="Aptos"/>
                <a:cs typeface="Aptos"/>
              </a:defRPr>
            </a:pPr>
            <a:r>
              <a:rPr sz="2400" b="1" dirty="0">
                <a:solidFill>
                  <a:srgbClr val="F7FAFC"/>
                </a:solidFill>
                <a:latin typeface="Aptos"/>
                <a:ea typeface="Aptos"/>
                <a:cs typeface="Aptos"/>
              </a:rPr>
              <a:t>One product turns every trip into evidence</a:t>
            </a:r>
            <a:endParaRPr sz="2400" dirty="0"/>
          </a:p>
        </p:txBody>
      </p:sp>
      <p:sp>
        <p:nvSpPr>
          <p:cNvPr id="6" name="Text 2">
            <a:extLst>
              <a:ext uri="{FF2B5EF4-FFF2-40B4-BE49-F238E27FC236}">
                <a16:creationId xmlns:a16="http://schemas.microsoft.com/office/drawing/2014/main" id="{73FEFC52-ADD6-401E-9779-597C4F4E5E73}"/>
              </a:ext>
            </a:extLst>
          </p:cNvPr>
          <p:cNvSpPr>
            <a:spLocks noGrp="1"/>
          </p:cNvSpPr>
          <p:nvPr/>
        </p:nvSpPr>
        <p:spPr>
          <a:xfrm>
            <a:off x="609599" y="1173480"/>
            <a:ext cx="8321041" cy="48768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Vehicle sensing, reliable transfer, AI analysis, and supervisor action — connected end to end.</a:t>
            </a:r>
            <a:endParaRPr sz="1600" dirty="0"/>
          </a:p>
        </p:txBody>
      </p:sp>
      <p:sp>
        <p:nvSpPr>
          <p:cNvPr id="7" name="Shape 3">
            <a:extLst>
              <a:ext uri="{FF2B5EF4-FFF2-40B4-BE49-F238E27FC236}">
                <a16:creationId xmlns:a16="http://schemas.microsoft.com/office/drawing/2014/main" id="{E0B07265-5625-410D-93C3-788ABA36F5C5}"/>
              </a:ext>
            </a:extLst>
          </p:cNvPr>
          <p:cNvSpPr>
            <a:spLocks noGrp="1"/>
          </p:cNvSpPr>
          <p:nvPr/>
        </p:nvSpPr>
        <p:spPr>
          <a:xfrm>
            <a:off x="609600" y="2867025"/>
            <a:ext cx="7924800" cy="19050"/>
          </a:xfrm>
          <a:prstGeom prst="rect">
            <a:avLst/>
          </a:prstGeom>
          <a:solidFill>
            <a:srgbClr val="12CFFF"/>
          </a:solidFill>
          <a:ln w="9525">
            <a:solidFill>
              <a:srgbClr val="33404E"/>
            </a:solidFill>
            <a:prstDash val="solid"/>
          </a:ln>
        </p:spPr>
        <p:txBody>
          <a:bodyPr/>
          <a:lstStyle/>
          <a:p>
            <a:endParaRPr lang="en-US"/>
          </a:p>
        </p:txBody>
      </p:sp>
      <p:sp>
        <p:nvSpPr>
          <p:cNvPr id="8" name="Shape 4">
            <a:extLst>
              <a:ext uri="{FF2B5EF4-FFF2-40B4-BE49-F238E27FC236}">
                <a16:creationId xmlns:a16="http://schemas.microsoft.com/office/drawing/2014/main" id="{70926F8D-B205-45C7-AD85-D223CA24A839}"/>
              </a:ext>
            </a:extLst>
          </p:cNvPr>
          <p:cNvSpPr>
            <a:spLocks noGrp="1"/>
          </p:cNvSpPr>
          <p:nvPr/>
        </p:nvSpPr>
        <p:spPr>
          <a:xfrm>
            <a:off x="609600" y="1752600"/>
            <a:ext cx="361950" cy="361950"/>
          </a:xfrm>
          <a:prstGeom prst="ellipse">
            <a:avLst/>
          </a:prstGeom>
          <a:solidFill>
            <a:srgbClr val="0B1420"/>
          </a:solidFill>
          <a:ln w="19050">
            <a:solidFill>
              <a:srgbClr val="00C8F8"/>
            </a:solidFill>
            <a:prstDash val="solid"/>
          </a:ln>
        </p:spPr>
        <p:txBody>
          <a:bodyPr/>
          <a:lstStyle/>
          <a:p>
            <a:endParaRPr lang="en-US"/>
          </a:p>
        </p:txBody>
      </p:sp>
      <p:sp>
        <p:nvSpPr>
          <p:cNvPr id="9" name="Text 5">
            <a:extLst>
              <a:ext uri="{FF2B5EF4-FFF2-40B4-BE49-F238E27FC236}">
                <a16:creationId xmlns:a16="http://schemas.microsoft.com/office/drawing/2014/main" id="{1E3C18C7-2C84-4B85-8806-E495F54FE3F7}"/>
              </a:ext>
            </a:extLst>
          </p:cNvPr>
          <p:cNvSpPr>
            <a:spLocks noGrp="1"/>
          </p:cNvSpPr>
          <p:nvPr/>
        </p:nvSpPr>
        <p:spPr>
          <a:xfrm>
            <a:off x="609600" y="1752600"/>
            <a:ext cx="361950" cy="3619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01</a:t>
            </a:r>
            <a:endParaRPr sz="600"/>
          </a:p>
        </p:txBody>
      </p:sp>
      <p:sp>
        <p:nvSpPr>
          <p:cNvPr id="10" name="Text 6">
            <a:extLst>
              <a:ext uri="{FF2B5EF4-FFF2-40B4-BE49-F238E27FC236}">
                <a16:creationId xmlns:a16="http://schemas.microsoft.com/office/drawing/2014/main" id="{0316EED1-6FC0-4B8D-99E2-738E274A5183}"/>
              </a:ext>
            </a:extLst>
          </p:cNvPr>
          <p:cNvSpPr>
            <a:spLocks noGrp="1"/>
          </p:cNvSpPr>
          <p:nvPr/>
        </p:nvSpPr>
        <p:spPr>
          <a:xfrm>
            <a:off x="1104900" y="1743075"/>
            <a:ext cx="1952625" cy="30480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800" b="1" dirty="0">
                <a:solidFill>
                  <a:srgbClr val="F7FAFC"/>
                </a:solidFill>
                <a:latin typeface="Aptos"/>
                <a:ea typeface="Aptos"/>
                <a:cs typeface="Aptos"/>
              </a:rPr>
              <a:t>Capture</a:t>
            </a:r>
            <a:endParaRPr sz="900" dirty="0"/>
          </a:p>
        </p:txBody>
      </p:sp>
      <p:sp>
        <p:nvSpPr>
          <p:cNvPr id="11" name="Text 7">
            <a:extLst>
              <a:ext uri="{FF2B5EF4-FFF2-40B4-BE49-F238E27FC236}">
                <a16:creationId xmlns:a16="http://schemas.microsoft.com/office/drawing/2014/main" id="{B6422031-1B6F-4ADB-92F4-0712C17474C0}"/>
              </a:ext>
            </a:extLst>
          </p:cNvPr>
          <p:cNvSpPr>
            <a:spLocks noGrp="1"/>
          </p:cNvSpPr>
          <p:nvPr/>
        </p:nvSpPr>
        <p:spPr>
          <a:xfrm>
            <a:off x="1104900" y="2076450"/>
            <a:ext cx="1952625" cy="400050"/>
          </a:xfrm>
          <a:prstGeom prst="rect">
            <a:avLst/>
          </a:prstGeom>
          <a:noFill/>
        </p:spPr>
        <p:txBody>
          <a:bodyPr wrap="square" lIns="0" tIns="0" rIns="0" bIns="0" anchor="ctr">
            <a:noAutofit/>
          </a:bodyPr>
          <a:lstStyle/>
          <a:p>
            <a:pPr marL="0" indent="0" algn="l">
              <a:lnSpc>
                <a:spcPct val="104000"/>
              </a:lnSpc>
              <a:buNone/>
              <a:defRPr sz="1600" b="0">
                <a:solidFill>
                  <a:srgbClr val="BBC6D4"/>
                </a:solidFill>
                <a:latin typeface="Aptos"/>
                <a:ea typeface="Aptos"/>
                <a:cs typeface="Aptos"/>
              </a:defRPr>
            </a:pPr>
            <a:r>
              <a:rPr sz="1600" b="0" dirty="0">
                <a:solidFill>
                  <a:srgbClr val="BBC6D4"/>
                </a:solidFill>
                <a:latin typeface="Aptos"/>
                <a:ea typeface="Aptos"/>
                <a:cs typeface="Aptos"/>
              </a:rPr>
              <a:t>Motion + location</a:t>
            </a:r>
            <a:endParaRPr sz="800" dirty="0"/>
          </a:p>
        </p:txBody>
      </p:sp>
      <p:sp>
        <p:nvSpPr>
          <p:cNvPr id="12" name="Shape 8">
            <a:extLst>
              <a:ext uri="{FF2B5EF4-FFF2-40B4-BE49-F238E27FC236}">
                <a16:creationId xmlns:a16="http://schemas.microsoft.com/office/drawing/2014/main" id="{966DE08F-2BE9-4857-A767-56DE779A6B62}"/>
              </a:ext>
            </a:extLst>
          </p:cNvPr>
          <p:cNvSpPr>
            <a:spLocks noGrp="1"/>
          </p:cNvSpPr>
          <p:nvPr/>
        </p:nvSpPr>
        <p:spPr>
          <a:xfrm>
            <a:off x="3381375" y="1752600"/>
            <a:ext cx="361950" cy="361950"/>
          </a:xfrm>
          <a:prstGeom prst="ellipse">
            <a:avLst/>
          </a:prstGeom>
          <a:solidFill>
            <a:srgbClr val="0B1420"/>
          </a:solidFill>
          <a:ln w="19050">
            <a:solidFill>
              <a:srgbClr val="00C8F8"/>
            </a:solidFill>
            <a:prstDash val="solid"/>
          </a:ln>
        </p:spPr>
        <p:txBody>
          <a:bodyPr/>
          <a:lstStyle/>
          <a:p>
            <a:endParaRPr lang="en-US"/>
          </a:p>
        </p:txBody>
      </p:sp>
      <p:sp>
        <p:nvSpPr>
          <p:cNvPr id="13" name="Text 9">
            <a:extLst>
              <a:ext uri="{FF2B5EF4-FFF2-40B4-BE49-F238E27FC236}">
                <a16:creationId xmlns:a16="http://schemas.microsoft.com/office/drawing/2014/main" id="{3258D7EE-C270-4DF5-8EA9-8AD3F990E9FB}"/>
              </a:ext>
            </a:extLst>
          </p:cNvPr>
          <p:cNvSpPr>
            <a:spLocks noGrp="1"/>
          </p:cNvSpPr>
          <p:nvPr/>
        </p:nvSpPr>
        <p:spPr>
          <a:xfrm>
            <a:off x="3381375" y="1752600"/>
            <a:ext cx="361950" cy="3619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02</a:t>
            </a:r>
            <a:endParaRPr sz="600"/>
          </a:p>
        </p:txBody>
      </p:sp>
      <p:sp>
        <p:nvSpPr>
          <p:cNvPr id="14" name="Text 10">
            <a:extLst>
              <a:ext uri="{FF2B5EF4-FFF2-40B4-BE49-F238E27FC236}">
                <a16:creationId xmlns:a16="http://schemas.microsoft.com/office/drawing/2014/main" id="{5A939BB4-8554-4EF0-8E04-3F6282AF298B}"/>
              </a:ext>
            </a:extLst>
          </p:cNvPr>
          <p:cNvSpPr>
            <a:spLocks noGrp="1"/>
          </p:cNvSpPr>
          <p:nvPr/>
        </p:nvSpPr>
        <p:spPr>
          <a:xfrm>
            <a:off x="3876675" y="1743075"/>
            <a:ext cx="1952625" cy="30480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800" b="1">
                <a:solidFill>
                  <a:srgbClr val="F7FAFC"/>
                </a:solidFill>
                <a:latin typeface="Aptos"/>
                <a:ea typeface="Aptos"/>
                <a:cs typeface="Aptos"/>
              </a:rPr>
              <a:t>Extract</a:t>
            </a:r>
            <a:endParaRPr sz="900"/>
          </a:p>
        </p:txBody>
      </p:sp>
      <p:sp>
        <p:nvSpPr>
          <p:cNvPr id="15" name="Text 11">
            <a:extLst>
              <a:ext uri="{FF2B5EF4-FFF2-40B4-BE49-F238E27FC236}">
                <a16:creationId xmlns:a16="http://schemas.microsoft.com/office/drawing/2014/main" id="{D68B6037-462C-4495-9E0F-E73C449576D0}"/>
              </a:ext>
            </a:extLst>
          </p:cNvPr>
          <p:cNvSpPr>
            <a:spLocks noGrp="1"/>
          </p:cNvSpPr>
          <p:nvPr/>
        </p:nvSpPr>
        <p:spPr>
          <a:xfrm>
            <a:off x="3876675" y="2076450"/>
            <a:ext cx="1952625" cy="400050"/>
          </a:xfrm>
          <a:prstGeom prst="rect">
            <a:avLst/>
          </a:prstGeom>
          <a:noFill/>
        </p:spPr>
        <p:txBody>
          <a:bodyPr wrap="square" lIns="0" tIns="0" rIns="0" bIns="0" anchor="ctr">
            <a:noAutofit/>
          </a:bodyPr>
          <a:lstStyle/>
          <a:p>
            <a:pPr marL="0" indent="0" algn="l">
              <a:lnSpc>
                <a:spcPct val="104000"/>
              </a:lnSpc>
              <a:buNone/>
              <a:defRPr sz="1600" b="0">
                <a:solidFill>
                  <a:srgbClr val="BBC6D4"/>
                </a:solidFill>
                <a:latin typeface="Aptos"/>
                <a:ea typeface="Aptos"/>
                <a:cs typeface="Aptos"/>
              </a:defRPr>
            </a:pPr>
            <a:r>
              <a:rPr sz="1600" b="0" dirty="0">
                <a:solidFill>
                  <a:srgbClr val="BBC6D4"/>
                </a:solidFill>
                <a:latin typeface="Aptos"/>
                <a:ea typeface="Aptos"/>
                <a:cs typeface="Aptos"/>
              </a:rPr>
              <a:t>Meaningful events</a:t>
            </a:r>
            <a:endParaRPr sz="800" dirty="0"/>
          </a:p>
        </p:txBody>
      </p:sp>
      <p:sp>
        <p:nvSpPr>
          <p:cNvPr id="16" name="Shape 12">
            <a:extLst>
              <a:ext uri="{FF2B5EF4-FFF2-40B4-BE49-F238E27FC236}">
                <a16:creationId xmlns:a16="http://schemas.microsoft.com/office/drawing/2014/main" id="{3EAB1B1D-18B4-4987-A5F6-2A187E522F64}"/>
              </a:ext>
            </a:extLst>
          </p:cNvPr>
          <p:cNvSpPr>
            <a:spLocks noGrp="1"/>
          </p:cNvSpPr>
          <p:nvPr/>
        </p:nvSpPr>
        <p:spPr>
          <a:xfrm>
            <a:off x="6153150" y="1752600"/>
            <a:ext cx="361950" cy="361950"/>
          </a:xfrm>
          <a:prstGeom prst="ellipse">
            <a:avLst/>
          </a:prstGeom>
          <a:solidFill>
            <a:srgbClr val="0B1420"/>
          </a:solidFill>
          <a:ln w="19050">
            <a:solidFill>
              <a:srgbClr val="00C8F8"/>
            </a:solidFill>
            <a:prstDash val="solid"/>
          </a:ln>
        </p:spPr>
        <p:txBody>
          <a:bodyPr/>
          <a:lstStyle/>
          <a:p>
            <a:endParaRPr lang="en-US"/>
          </a:p>
        </p:txBody>
      </p:sp>
      <p:sp>
        <p:nvSpPr>
          <p:cNvPr id="17" name="Text 13">
            <a:extLst>
              <a:ext uri="{FF2B5EF4-FFF2-40B4-BE49-F238E27FC236}">
                <a16:creationId xmlns:a16="http://schemas.microsoft.com/office/drawing/2014/main" id="{0CC02BC6-4B86-427A-9430-A42B47F225A8}"/>
              </a:ext>
            </a:extLst>
          </p:cNvPr>
          <p:cNvSpPr>
            <a:spLocks noGrp="1"/>
          </p:cNvSpPr>
          <p:nvPr/>
        </p:nvSpPr>
        <p:spPr>
          <a:xfrm>
            <a:off x="6153150" y="1752600"/>
            <a:ext cx="361950" cy="3619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03</a:t>
            </a:r>
            <a:endParaRPr sz="600"/>
          </a:p>
        </p:txBody>
      </p:sp>
      <p:sp>
        <p:nvSpPr>
          <p:cNvPr id="18" name="Text 14">
            <a:extLst>
              <a:ext uri="{FF2B5EF4-FFF2-40B4-BE49-F238E27FC236}">
                <a16:creationId xmlns:a16="http://schemas.microsoft.com/office/drawing/2014/main" id="{15364CE1-59E1-4D61-A419-F1CD05B5F19A}"/>
              </a:ext>
            </a:extLst>
          </p:cNvPr>
          <p:cNvSpPr>
            <a:spLocks noGrp="1"/>
          </p:cNvSpPr>
          <p:nvPr/>
        </p:nvSpPr>
        <p:spPr>
          <a:xfrm>
            <a:off x="6648450" y="1743075"/>
            <a:ext cx="1952625" cy="30480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800" b="1">
                <a:solidFill>
                  <a:srgbClr val="F7FAFC"/>
                </a:solidFill>
                <a:latin typeface="Aptos"/>
                <a:ea typeface="Aptos"/>
                <a:cs typeface="Aptos"/>
              </a:rPr>
              <a:t>Connect</a:t>
            </a:r>
            <a:endParaRPr sz="900"/>
          </a:p>
        </p:txBody>
      </p:sp>
      <p:sp>
        <p:nvSpPr>
          <p:cNvPr id="19" name="Text 15">
            <a:extLst>
              <a:ext uri="{FF2B5EF4-FFF2-40B4-BE49-F238E27FC236}">
                <a16:creationId xmlns:a16="http://schemas.microsoft.com/office/drawing/2014/main" id="{F9F030D2-3703-4CF8-8AAB-6F4D0B742981}"/>
              </a:ext>
            </a:extLst>
          </p:cNvPr>
          <p:cNvSpPr>
            <a:spLocks noGrp="1"/>
          </p:cNvSpPr>
          <p:nvPr/>
        </p:nvSpPr>
        <p:spPr>
          <a:xfrm>
            <a:off x="6648450" y="2076450"/>
            <a:ext cx="1952625" cy="400050"/>
          </a:xfrm>
          <a:prstGeom prst="rect">
            <a:avLst/>
          </a:prstGeom>
          <a:noFill/>
        </p:spPr>
        <p:txBody>
          <a:bodyPr wrap="square" lIns="0" tIns="0" rIns="0" bIns="0" anchor="ctr">
            <a:noAutofit/>
          </a:bodyPr>
          <a:lstStyle/>
          <a:p>
            <a:pPr marL="0" indent="0" algn="l">
              <a:lnSpc>
                <a:spcPct val="104000"/>
              </a:lnSpc>
              <a:buNone/>
              <a:defRPr sz="1600" b="0">
                <a:solidFill>
                  <a:srgbClr val="BBC6D4"/>
                </a:solidFill>
                <a:latin typeface="Aptos"/>
                <a:ea typeface="Aptos"/>
                <a:cs typeface="Aptos"/>
              </a:defRPr>
            </a:pPr>
            <a:r>
              <a:rPr sz="1600" b="0" dirty="0">
                <a:solidFill>
                  <a:srgbClr val="BBC6D4"/>
                </a:solidFill>
                <a:latin typeface="Aptos"/>
                <a:ea typeface="Aptos"/>
                <a:cs typeface="Aptos"/>
              </a:rPr>
              <a:t>Reliable transfer</a:t>
            </a:r>
            <a:endParaRPr sz="800" dirty="0"/>
          </a:p>
        </p:txBody>
      </p:sp>
      <p:sp>
        <p:nvSpPr>
          <p:cNvPr id="20" name="Shape 16">
            <a:extLst>
              <a:ext uri="{FF2B5EF4-FFF2-40B4-BE49-F238E27FC236}">
                <a16:creationId xmlns:a16="http://schemas.microsoft.com/office/drawing/2014/main" id="{6F9C0743-144D-4B35-89BF-D00D43786EAE}"/>
              </a:ext>
            </a:extLst>
          </p:cNvPr>
          <p:cNvSpPr>
            <a:spLocks noGrp="1"/>
          </p:cNvSpPr>
          <p:nvPr/>
        </p:nvSpPr>
        <p:spPr>
          <a:xfrm>
            <a:off x="609600" y="3067050"/>
            <a:ext cx="361950" cy="361950"/>
          </a:xfrm>
          <a:prstGeom prst="ellipse">
            <a:avLst/>
          </a:prstGeom>
          <a:solidFill>
            <a:srgbClr val="0B1420"/>
          </a:solidFill>
          <a:ln w="19050">
            <a:solidFill>
              <a:srgbClr val="00C8F8"/>
            </a:solidFill>
            <a:prstDash val="solid"/>
          </a:ln>
        </p:spPr>
        <p:txBody>
          <a:bodyPr/>
          <a:lstStyle/>
          <a:p>
            <a:endParaRPr lang="en-US"/>
          </a:p>
        </p:txBody>
      </p:sp>
      <p:sp>
        <p:nvSpPr>
          <p:cNvPr id="21" name="Text 17">
            <a:extLst>
              <a:ext uri="{FF2B5EF4-FFF2-40B4-BE49-F238E27FC236}">
                <a16:creationId xmlns:a16="http://schemas.microsoft.com/office/drawing/2014/main" id="{CD2390C3-A452-4939-8EA2-6A67E23BC802}"/>
              </a:ext>
            </a:extLst>
          </p:cNvPr>
          <p:cNvSpPr>
            <a:spLocks noGrp="1"/>
          </p:cNvSpPr>
          <p:nvPr/>
        </p:nvSpPr>
        <p:spPr>
          <a:xfrm>
            <a:off x="609600" y="3067050"/>
            <a:ext cx="361950" cy="3619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04</a:t>
            </a:r>
            <a:endParaRPr sz="600"/>
          </a:p>
        </p:txBody>
      </p:sp>
      <p:sp>
        <p:nvSpPr>
          <p:cNvPr id="22" name="Text 18">
            <a:extLst>
              <a:ext uri="{FF2B5EF4-FFF2-40B4-BE49-F238E27FC236}">
                <a16:creationId xmlns:a16="http://schemas.microsoft.com/office/drawing/2014/main" id="{AB71532A-FBA9-48D7-B05F-FCCDAA8ACF85}"/>
              </a:ext>
            </a:extLst>
          </p:cNvPr>
          <p:cNvSpPr>
            <a:spLocks noGrp="1"/>
          </p:cNvSpPr>
          <p:nvPr/>
        </p:nvSpPr>
        <p:spPr>
          <a:xfrm>
            <a:off x="1104900" y="3057525"/>
            <a:ext cx="1952625" cy="30480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800" b="1">
                <a:solidFill>
                  <a:srgbClr val="F7FAFC"/>
                </a:solidFill>
                <a:latin typeface="Aptos"/>
                <a:ea typeface="Aptos"/>
                <a:cs typeface="Aptos"/>
              </a:rPr>
              <a:t>Validate</a:t>
            </a:r>
            <a:endParaRPr sz="900"/>
          </a:p>
        </p:txBody>
      </p:sp>
      <p:sp>
        <p:nvSpPr>
          <p:cNvPr id="23" name="Text 19">
            <a:extLst>
              <a:ext uri="{FF2B5EF4-FFF2-40B4-BE49-F238E27FC236}">
                <a16:creationId xmlns:a16="http://schemas.microsoft.com/office/drawing/2014/main" id="{C308135B-9EAD-48CD-8166-60E6B9B66474}"/>
              </a:ext>
            </a:extLst>
          </p:cNvPr>
          <p:cNvSpPr>
            <a:spLocks noGrp="1"/>
          </p:cNvSpPr>
          <p:nvPr/>
        </p:nvSpPr>
        <p:spPr>
          <a:xfrm>
            <a:off x="1104900" y="3390900"/>
            <a:ext cx="1952625" cy="400050"/>
          </a:xfrm>
          <a:prstGeom prst="rect">
            <a:avLst/>
          </a:prstGeom>
          <a:noFill/>
        </p:spPr>
        <p:txBody>
          <a:bodyPr wrap="square" lIns="0" tIns="0" rIns="0" bIns="0" anchor="ctr">
            <a:noAutofit/>
          </a:bodyPr>
          <a:lstStyle/>
          <a:p>
            <a:pPr marL="0" indent="0" algn="l">
              <a:lnSpc>
                <a:spcPct val="104000"/>
              </a:lnSpc>
              <a:buNone/>
              <a:defRPr sz="1600" b="0">
                <a:solidFill>
                  <a:srgbClr val="BBC6D4"/>
                </a:solidFill>
                <a:latin typeface="Aptos"/>
                <a:ea typeface="Aptos"/>
                <a:cs typeface="Aptos"/>
              </a:defRPr>
            </a:pPr>
            <a:r>
              <a:rPr sz="1600" b="0">
                <a:solidFill>
                  <a:srgbClr val="BBC6D4"/>
                </a:solidFill>
                <a:latin typeface="Aptos"/>
                <a:ea typeface="Aptos"/>
                <a:cs typeface="Aptos"/>
              </a:rPr>
              <a:t>Backend context</a:t>
            </a:r>
            <a:endParaRPr sz="800"/>
          </a:p>
        </p:txBody>
      </p:sp>
      <p:sp>
        <p:nvSpPr>
          <p:cNvPr id="24" name="Shape 20">
            <a:extLst>
              <a:ext uri="{FF2B5EF4-FFF2-40B4-BE49-F238E27FC236}">
                <a16:creationId xmlns:a16="http://schemas.microsoft.com/office/drawing/2014/main" id="{5F50EE7F-F4D1-4D6D-90F2-F39C7B50B58E}"/>
              </a:ext>
            </a:extLst>
          </p:cNvPr>
          <p:cNvSpPr>
            <a:spLocks noGrp="1"/>
          </p:cNvSpPr>
          <p:nvPr/>
        </p:nvSpPr>
        <p:spPr>
          <a:xfrm>
            <a:off x="3381375" y="3067050"/>
            <a:ext cx="361950" cy="361950"/>
          </a:xfrm>
          <a:prstGeom prst="ellipse">
            <a:avLst/>
          </a:prstGeom>
          <a:solidFill>
            <a:srgbClr val="0B1420"/>
          </a:solidFill>
          <a:ln w="19050">
            <a:solidFill>
              <a:srgbClr val="00C8F8"/>
            </a:solidFill>
            <a:prstDash val="solid"/>
          </a:ln>
        </p:spPr>
        <p:txBody>
          <a:bodyPr/>
          <a:lstStyle/>
          <a:p>
            <a:endParaRPr lang="en-US"/>
          </a:p>
        </p:txBody>
      </p:sp>
      <p:sp>
        <p:nvSpPr>
          <p:cNvPr id="25" name="Text 21">
            <a:extLst>
              <a:ext uri="{FF2B5EF4-FFF2-40B4-BE49-F238E27FC236}">
                <a16:creationId xmlns:a16="http://schemas.microsoft.com/office/drawing/2014/main" id="{DB6EA93B-789E-43CF-B85B-ACBD4C911930}"/>
              </a:ext>
            </a:extLst>
          </p:cNvPr>
          <p:cNvSpPr>
            <a:spLocks noGrp="1"/>
          </p:cNvSpPr>
          <p:nvPr/>
        </p:nvSpPr>
        <p:spPr>
          <a:xfrm>
            <a:off x="3381375" y="3067050"/>
            <a:ext cx="361950" cy="3619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05</a:t>
            </a:r>
            <a:endParaRPr sz="600"/>
          </a:p>
        </p:txBody>
      </p:sp>
      <p:sp>
        <p:nvSpPr>
          <p:cNvPr id="26" name="Text 22">
            <a:extLst>
              <a:ext uri="{FF2B5EF4-FFF2-40B4-BE49-F238E27FC236}">
                <a16:creationId xmlns:a16="http://schemas.microsoft.com/office/drawing/2014/main" id="{A18BB969-E53C-40E1-9C34-096133EE19C4}"/>
              </a:ext>
            </a:extLst>
          </p:cNvPr>
          <p:cNvSpPr>
            <a:spLocks noGrp="1"/>
          </p:cNvSpPr>
          <p:nvPr/>
        </p:nvSpPr>
        <p:spPr>
          <a:xfrm>
            <a:off x="3876675" y="3057525"/>
            <a:ext cx="1952625" cy="30480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800" b="1">
                <a:solidFill>
                  <a:srgbClr val="F7FAFC"/>
                </a:solidFill>
                <a:latin typeface="Aptos"/>
                <a:ea typeface="Aptos"/>
                <a:cs typeface="Aptos"/>
              </a:rPr>
              <a:t>Analyze</a:t>
            </a:r>
            <a:endParaRPr sz="900"/>
          </a:p>
        </p:txBody>
      </p:sp>
      <p:sp>
        <p:nvSpPr>
          <p:cNvPr id="27" name="Text 23">
            <a:extLst>
              <a:ext uri="{FF2B5EF4-FFF2-40B4-BE49-F238E27FC236}">
                <a16:creationId xmlns:a16="http://schemas.microsoft.com/office/drawing/2014/main" id="{4CD2490E-C6EA-4B86-9055-81E6A46DD9C2}"/>
              </a:ext>
            </a:extLst>
          </p:cNvPr>
          <p:cNvSpPr>
            <a:spLocks noGrp="1"/>
          </p:cNvSpPr>
          <p:nvPr/>
        </p:nvSpPr>
        <p:spPr>
          <a:xfrm>
            <a:off x="3876675" y="3390900"/>
            <a:ext cx="1952625" cy="400050"/>
          </a:xfrm>
          <a:prstGeom prst="rect">
            <a:avLst/>
          </a:prstGeom>
          <a:noFill/>
        </p:spPr>
        <p:txBody>
          <a:bodyPr wrap="square" lIns="0" tIns="0" rIns="0" bIns="0" anchor="ctr">
            <a:noAutofit/>
          </a:bodyPr>
          <a:lstStyle/>
          <a:p>
            <a:pPr marL="0" indent="0" algn="l">
              <a:lnSpc>
                <a:spcPct val="104000"/>
              </a:lnSpc>
              <a:buNone/>
              <a:defRPr sz="1600" b="0">
                <a:solidFill>
                  <a:srgbClr val="BBC6D4"/>
                </a:solidFill>
                <a:latin typeface="Aptos"/>
                <a:ea typeface="Aptos"/>
                <a:cs typeface="Aptos"/>
              </a:defRPr>
            </a:pPr>
            <a:r>
              <a:rPr sz="1600" b="0">
                <a:solidFill>
                  <a:srgbClr val="BBC6D4"/>
                </a:solidFill>
                <a:latin typeface="Aptos"/>
                <a:ea typeface="Aptos"/>
                <a:cs typeface="Aptos"/>
              </a:rPr>
              <a:t>AI + Road Memory</a:t>
            </a:r>
            <a:endParaRPr sz="800"/>
          </a:p>
        </p:txBody>
      </p:sp>
      <p:sp>
        <p:nvSpPr>
          <p:cNvPr id="28" name="Shape 24">
            <a:extLst>
              <a:ext uri="{FF2B5EF4-FFF2-40B4-BE49-F238E27FC236}">
                <a16:creationId xmlns:a16="http://schemas.microsoft.com/office/drawing/2014/main" id="{48363C48-AC71-4B80-A45E-BD89BB1342CD}"/>
              </a:ext>
            </a:extLst>
          </p:cNvPr>
          <p:cNvSpPr>
            <a:spLocks noGrp="1"/>
          </p:cNvSpPr>
          <p:nvPr/>
        </p:nvSpPr>
        <p:spPr>
          <a:xfrm>
            <a:off x="6153150" y="3067050"/>
            <a:ext cx="361950" cy="361950"/>
          </a:xfrm>
          <a:prstGeom prst="ellipse">
            <a:avLst/>
          </a:prstGeom>
          <a:solidFill>
            <a:srgbClr val="0B1420"/>
          </a:solidFill>
          <a:ln w="19050">
            <a:solidFill>
              <a:srgbClr val="00C8F8"/>
            </a:solidFill>
            <a:prstDash val="solid"/>
          </a:ln>
        </p:spPr>
        <p:txBody>
          <a:bodyPr/>
          <a:lstStyle/>
          <a:p>
            <a:endParaRPr lang="en-US"/>
          </a:p>
        </p:txBody>
      </p:sp>
      <p:sp>
        <p:nvSpPr>
          <p:cNvPr id="29" name="Text 25">
            <a:extLst>
              <a:ext uri="{FF2B5EF4-FFF2-40B4-BE49-F238E27FC236}">
                <a16:creationId xmlns:a16="http://schemas.microsoft.com/office/drawing/2014/main" id="{F369C514-853E-4D78-9F1C-5D93C166EB9E}"/>
              </a:ext>
            </a:extLst>
          </p:cNvPr>
          <p:cNvSpPr>
            <a:spLocks noGrp="1"/>
          </p:cNvSpPr>
          <p:nvPr/>
        </p:nvSpPr>
        <p:spPr>
          <a:xfrm>
            <a:off x="6153150" y="3067050"/>
            <a:ext cx="361950" cy="3619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06</a:t>
            </a:r>
            <a:endParaRPr sz="600"/>
          </a:p>
        </p:txBody>
      </p:sp>
      <p:sp>
        <p:nvSpPr>
          <p:cNvPr id="30" name="Text 26">
            <a:extLst>
              <a:ext uri="{FF2B5EF4-FFF2-40B4-BE49-F238E27FC236}">
                <a16:creationId xmlns:a16="http://schemas.microsoft.com/office/drawing/2014/main" id="{C0B4E5BB-ABCA-4C7A-A26F-988B046C55DA}"/>
              </a:ext>
            </a:extLst>
          </p:cNvPr>
          <p:cNvSpPr>
            <a:spLocks noGrp="1"/>
          </p:cNvSpPr>
          <p:nvPr/>
        </p:nvSpPr>
        <p:spPr>
          <a:xfrm>
            <a:off x="6648450" y="3057525"/>
            <a:ext cx="1952625" cy="30480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800" b="1">
                <a:solidFill>
                  <a:srgbClr val="F7FAFC"/>
                </a:solidFill>
                <a:latin typeface="Aptos"/>
                <a:ea typeface="Aptos"/>
                <a:cs typeface="Aptos"/>
              </a:rPr>
              <a:t>Supervise</a:t>
            </a:r>
            <a:endParaRPr sz="900"/>
          </a:p>
        </p:txBody>
      </p:sp>
      <p:sp>
        <p:nvSpPr>
          <p:cNvPr id="31" name="Text 27">
            <a:extLst>
              <a:ext uri="{FF2B5EF4-FFF2-40B4-BE49-F238E27FC236}">
                <a16:creationId xmlns:a16="http://schemas.microsoft.com/office/drawing/2014/main" id="{FBBFEB29-2A5A-4B01-93C6-8E9FBC2EE446}"/>
              </a:ext>
            </a:extLst>
          </p:cNvPr>
          <p:cNvSpPr>
            <a:spLocks noGrp="1"/>
          </p:cNvSpPr>
          <p:nvPr/>
        </p:nvSpPr>
        <p:spPr>
          <a:xfrm>
            <a:off x="6648450" y="3390900"/>
            <a:ext cx="1952625" cy="400050"/>
          </a:xfrm>
          <a:prstGeom prst="rect">
            <a:avLst/>
          </a:prstGeom>
          <a:noFill/>
        </p:spPr>
        <p:txBody>
          <a:bodyPr wrap="square" lIns="0" tIns="0" rIns="0" bIns="0" anchor="ctr">
            <a:noAutofit/>
          </a:bodyPr>
          <a:lstStyle/>
          <a:p>
            <a:pPr marL="0" indent="0" algn="l">
              <a:lnSpc>
                <a:spcPct val="104000"/>
              </a:lnSpc>
              <a:buNone/>
              <a:defRPr sz="1600" b="0">
                <a:solidFill>
                  <a:srgbClr val="BBC6D4"/>
                </a:solidFill>
                <a:latin typeface="Aptos"/>
                <a:ea typeface="Aptos"/>
                <a:cs typeface="Aptos"/>
              </a:defRPr>
            </a:pPr>
            <a:r>
              <a:rPr sz="1600" b="0">
                <a:solidFill>
                  <a:srgbClr val="BBC6D4"/>
                </a:solidFill>
                <a:latin typeface="Aptos"/>
                <a:ea typeface="Aptos"/>
                <a:cs typeface="Aptos"/>
              </a:rPr>
              <a:t>Evidence for action</a:t>
            </a:r>
            <a:endParaRPr sz="800"/>
          </a:p>
        </p:txBody>
      </p:sp>
      <p:sp>
        <p:nvSpPr>
          <p:cNvPr id="32" name="Text 28">
            <a:extLst>
              <a:ext uri="{FF2B5EF4-FFF2-40B4-BE49-F238E27FC236}">
                <a16:creationId xmlns:a16="http://schemas.microsoft.com/office/drawing/2014/main" id="{91204308-273D-4600-BEFE-5C0EBFAC7BAA}"/>
              </a:ext>
            </a:extLst>
          </p:cNvPr>
          <p:cNvSpPr>
            <a:spLocks noGrp="1"/>
          </p:cNvSpPr>
          <p:nvPr/>
        </p:nvSpPr>
        <p:spPr>
          <a:xfrm>
            <a:off x="609600" y="4171950"/>
            <a:ext cx="7924800" cy="688181"/>
          </a:xfrm>
          <a:prstGeom prst="rect">
            <a:avLst/>
          </a:prstGeom>
          <a:noFill/>
        </p:spPr>
        <p:txBody>
          <a:bodyPr wrap="square" lIns="0" tIns="0" rIns="0" bIns="0" anchor="ctr">
            <a:noAutofit/>
          </a:bodyPr>
          <a:lstStyle/>
          <a:p>
            <a:pPr marL="0" indent="0" algn="l">
              <a:buNone/>
              <a:defRPr sz="1800" b="1">
                <a:solidFill>
                  <a:srgbClr val="37E6A6"/>
                </a:solidFill>
                <a:latin typeface="Aptos"/>
                <a:ea typeface="Aptos"/>
                <a:cs typeface="Aptos"/>
              </a:defRPr>
            </a:pPr>
            <a:r>
              <a:rPr sz="1800" b="1" dirty="0">
                <a:solidFill>
                  <a:srgbClr val="37E6A6"/>
                </a:solidFill>
                <a:latin typeface="Aptos"/>
                <a:ea typeface="Aptos"/>
                <a:cs typeface="Aptos"/>
              </a:rPr>
              <a:t>Result: understood event · likely cause · evidence for review</a:t>
            </a:r>
            <a:endParaRPr sz="1100" dirty="0"/>
          </a:p>
        </p:txBody>
      </p:sp>
      <p:sp>
        <p:nvSpPr>
          <p:cNvPr id="33" name="Shape 29">
            <a:extLst>
              <a:ext uri="{FF2B5EF4-FFF2-40B4-BE49-F238E27FC236}">
                <a16:creationId xmlns:a16="http://schemas.microsoft.com/office/drawing/2014/main" id="{B67C985C-4A80-4B08-AEED-C5576FDE12E0}"/>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34" name="Shape 30">
            <a:extLst>
              <a:ext uri="{FF2B5EF4-FFF2-40B4-BE49-F238E27FC236}">
                <a16:creationId xmlns:a16="http://schemas.microsoft.com/office/drawing/2014/main" id="{FBBE79D5-AC2B-4BA0-AA57-0F8D1F819DF2}"/>
              </a:ext>
            </a:extLst>
          </p:cNvPr>
          <p:cNvSpPr>
            <a:spLocks noGrp="1"/>
          </p:cNvSpPr>
          <p:nvPr/>
        </p:nvSpPr>
        <p:spPr>
          <a:xfrm>
            <a:off x="614363" y="4778216"/>
            <a:ext cx="7915275" cy="7144"/>
          </a:xfrm>
          <a:prstGeom prst="rect">
            <a:avLst/>
          </a:prstGeom>
          <a:solidFill>
            <a:srgbClr val="FFFFFF"/>
          </a:solidFill>
        </p:spPr>
        <p:txBody>
          <a:bodyPr/>
          <a:lstStyle/>
          <a:p>
            <a:endParaRPr lang="en-US"/>
          </a:p>
        </p:txBody>
      </p:sp>
      <p:sp>
        <p:nvSpPr>
          <p:cNvPr id="35" name="Text 31">
            <a:extLst>
              <a:ext uri="{FF2B5EF4-FFF2-40B4-BE49-F238E27FC236}">
                <a16:creationId xmlns:a16="http://schemas.microsoft.com/office/drawing/2014/main" id="{1B17F4DA-83D5-4897-A619-0233930B3F71}"/>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36" name="Text 32">
            <a:extLst>
              <a:ext uri="{FF2B5EF4-FFF2-40B4-BE49-F238E27FC236}">
                <a16:creationId xmlns:a16="http://schemas.microsoft.com/office/drawing/2014/main" id="{0432701E-BA28-43CC-A869-D929CF983316}"/>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03 / 10</a:t>
            </a:r>
            <a:endParaRPr sz="600"/>
          </a:p>
        </p:txBody>
      </p:sp>
    </p:spTree>
    <p:extLst>
      <p:ext uri="{BB962C8B-B14F-4D97-AF65-F5344CB8AC3E}">
        <p14:creationId xmlns:p14="http://schemas.microsoft.com/office/powerpoint/2010/main" val="1852292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9E3652BF-EF20-42AC-A0FD-D8F0A55F9FDF}"/>
              </a:ext>
            </a:extLst>
          </p:cNvPr>
          <p:cNvSpPr>
            <a:spLocks noGrp="1"/>
          </p:cNvSpPr>
          <p:nvPr/>
        </p:nvSpPr>
        <p:spPr>
          <a:xfrm>
            <a:off x="609600" y="438150"/>
            <a:ext cx="792480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03 / WORKING PROTOTYPE</a:t>
            </a:r>
            <a:endParaRPr sz="2000" dirty="0"/>
          </a:p>
        </p:txBody>
      </p:sp>
      <p:sp>
        <p:nvSpPr>
          <p:cNvPr id="5" name="Text 1">
            <a:extLst>
              <a:ext uri="{FF2B5EF4-FFF2-40B4-BE49-F238E27FC236}">
                <a16:creationId xmlns:a16="http://schemas.microsoft.com/office/drawing/2014/main" id="{E3DDCE17-A516-4DA6-8069-30D72C77C8E0}"/>
              </a:ext>
            </a:extLst>
          </p:cNvPr>
          <p:cNvSpPr>
            <a:spLocks noGrp="1"/>
          </p:cNvSpPr>
          <p:nvPr/>
        </p:nvSpPr>
        <p:spPr>
          <a:xfrm>
            <a:off x="609600" y="666750"/>
            <a:ext cx="3524250" cy="895350"/>
          </a:xfrm>
          <a:prstGeom prst="rect">
            <a:avLst/>
          </a:prstGeom>
          <a:noFill/>
        </p:spPr>
        <p:txBody>
          <a:bodyPr wrap="square" lIns="0" tIns="0" rIns="0" bIns="0" anchor="ctr">
            <a:noAutofit/>
          </a:bodyPr>
          <a:lstStyle/>
          <a:p>
            <a:pPr marL="0" indent="0" algn="l">
              <a:lnSpc>
                <a:spcPct val="96000"/>
              </a:lnSpc>
              <a:buNone/>
              <a:defRPr sz="2600" b="1">
                <a:solidFill>
                  <a:srgbClr val="F7FAFC"/>
                </a:solidFill>
                <a:latin typeface="Aptos"/>
                <a:ea typeface="Aptos"/>
                <a:cs typeface="Aptos"/>
              </a:defRPr>
            </a:pPr>
            <a:r>
              <a:rPr sz="2400" b="1" dirty="0">
                <a:solidFill>
                  <a:srgbClr val="F7FAFC"/>
                </a:solidFill>
                <a:latin typeface="Aptos"/>
                <a:ea typeface="Aptos"/>
                <a:cs typeface="Aptos"/>
              </a:rPr>
              <a:t>Compact hardware.</a:t>
            </a:r>
            <a:endParaRPr sz="2400" dirty="0"/>
          </a:p>
          <a:p>
            <a:pPr marL="0" indent="0" algn="l">
              <a:lnSpc>
                <a:spcPct val="96000"/>
              </a:lnSpc>
              <a:buNone/>
              <a:defRPr sz="2600" b="1">
                <a:solidFill>
                  <a:srgbClr val="F7FAFC"/>
                </a:solidFill>
                <a:latin typeface="Aptos"/>
                <a:ea typeface="Aptos"/>
                <a:cs typeface="Aptos"/>
              </a:defRPr>
            </a:pPr>
            <a:r>
              <a:rPr sz="2400" b="1" dirty="0">
                <a:solidFill>
                  <a:srgbClr val="F7FAFC"/>
                </a:solidFill>
                <a:latin typeface="Aptos"/>
                <a:ea typeface="Aptos"/>
                <a:cs typeface="Aptos"/>
              </a:rPr>
              <a:t>Connected platform.</a:t>
            </a:r>
            <a:endParaRPr sz="2400" dirty="0"/>
          </a:p>
        </p:txBody>
      </p:sp>
      <p:sp>
        <p:nvSpPr>
          <p:cNvPr id="6" name="Text 2">
            <a:extLst>
              <a:ext uri="{FF2B5EF4-FFF2-40B4-BE49-F238E27FC236}">
                <a16:creationId xmlns:a16="http://schemas.microsoft.com/office/drawing/2014/main" id="{373BE018-640F-4FC1-8579-92EFF17D1FFD}"/>
              </a:ext>
            </a:extLst>
          </p:cNvPr>
          <p:cNvSpPr>
            <a:spLocks noGrp="1"/>
          </p:cNvSpPr>
          <p:nvPr/>
        </p:nvSpPr>
        <p:spPr>
          <a:xfrm>
            <a:off x="609600" y="1516380"/>
            <a:ext cx="3524250" cy="546202"/>
          </a:xfrm>
          <a:prstGeom prst="rect">
            <a:avLst/>
          </a:prstGeom>
          <a:noFill/>
        </p:spPr>
        <p:txBody>
          <a:bodyPr wrap="square" lIns="0" tIns="0" rIns="0" bIns="0" anchor="ctr">
            <a:noAutofit/>
          </a:bodyPr>
          <a:lstStyle/>
          <a:p>
            <a:pPr marL="0" indent="0" algn="l">
              <a:lnSpc>
                <a:spcPct val="112000"/>
              </a:lnSpc>
              <a:buNone/>
              <a:defRPr sz="1600" b="0">
                <a:solidFill>
                  <a:srgbClr val="BBC6D4"/>
                </a:solidFill>
                <a:latin typeface="Aptos"/>
                <a:ea typeface="Aptos"/>
                <a:cs typeface="Aptos"/>
              </a:defRPr>
            </a:pPr>
            <a:r>
              <a:rPr sz="1600" b="0" dirty="0">
                <a:solidFill>
                  <a:srgbClr val="BBC6D4"/>
                </a:solidFill>
                <a:latin typeface="Aptos"/>
                <a:ea typeface="Aptos"/>
                <a:cs typeface="Aptos"/>
              </a:rPr>
              <a:t>The prototype captures the signals needed to understand each event.</a:t>
            </a:r>
            <a:endParaRPr sz="900" dirty="0"/>
          </a:p>
        </p:txBody>
      </p:sp>
      <p:sp>
        <p:nvSpPr>
          <p:cNvPr id="7" name="Text 3">
            <a:extLst>
              <a:ext uri="{FF2B5EF4-FFF2-40B4-BE49-F238E27FC236}">
                <a16:creationId xmlns:a16="http://schemas.microsoft.com/office/drawing/2014/main" id="{4F4031A7-A7F9-4F84-9D94-48F8794BB8BA}"/>
              </a:ext>
            </a:extLst>
          </p:cNvPr>
          <p:cNvSpPr>
            <a:spLocks noGrp="1"/>
          </p:cNvSpPr>
          <p:nvPr/>
        </p:nvSpPr>
        <p:spPr>
          <a:xfrm>
            <a:off x="609600" y="2106930"/>
            <a:ext cx="333375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ESP32 Controller</a:t>
            </a:r>
            <a:endParaRPr sz="1600" dirty="0"/>
          </a:p>
        </p:txBody>
      </p:sp>
      <p:sp>
        <p:nvSpPr>
          <p:cNvPr id="8" name="Text 4">
            <a:extLst>
              <a:ext uri="{FF2B5EF4-FFF2-40B4-BE49-F238E27FC236}">
                <a16:creationId xmlns:a16="http://schemas.microsoft.com/office/drawing/2014/main" id="{218CAE49-3E68-4F78-B6A6-148B43915335}"/>
              </a:ext>
            </a:extLst>
          </p:cNvPr>
          <p:cNvSpPr>
            <a:spLocks noGrp="1"/>
          </p:cNvSpPr>
          <p:nvPr/>
        </p:nvSpPr>
        <p:spPr>
          <a:xfrm>
            <a:off x="609600" y="2364105"/>
            <a:ext cx="3333750" cy="24384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Connectivity and edge logic.</a:t>
            </a:r>
            <a:endParaRPr sz="800" dirty="0"/>
          </a:p>
        </p:txBody>
      </p:sp>
      <p:sp>
        <p:nvSpPr>
          <p:cNvPr id="9" name="Text 5">
            <a:extLst>
              <a:ext uri="{FF2B5EF4-FFF2-40B4-BE49-F238E27FC236}">
                <a16:creationId xmlns:a16="http://schemas.microsoft.com/office/drawing/2014/main" id="{7FA6DF90-BE6F-494D-B180-E4662B9405BC}"/>
              </a:ext>
            </a:extLst>
          </p:cNvPr>
          <p:cNvSpPr>
            <a:spLocks noGrp="1"/>
          </p:cNvSpPr>
          <p:nvPr/>
        </p:nvSpPr>
        <p:spPr>
          <a:xfrm>
            <a:off x="609600" y="2630805"/>
            <a:ext cx="333375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IMU Sensor</a:t>
            </a:r>
            <a:endParaRPr sz="1600" dirty="0"/>
          </a:p>
        </p:txBody>
      </p:sp>
      <p:sp>
        <p:nvSpPr>
          <p:cNvPr id="10" name="Text 6">
            <a:extLst>
              <a:ext uri="{FF2B5EF4-FFF2-40B4-BE49-F238E27FC236}">
                <a16:creationId xmlns:a16="http://schemas.microsoft.com/office/drawing/2014/main" id="{B687E1C9-9475-42F6-A1BE-FC480478AF5F}"/>
              </a:ext>
            </a:extLst>
          </p:cNvPr>
          <p:cNvSpPr>
            <a:spLocks noGrp="1"/>
          </p:cNvSpPr>
          <p:nvPr/>
        </p:nvSpPr>
        <p:spPr>
          <a:xfrm>
            <a:off x="609600" y="2880360"/>
            <a:ext cx="3333750" cy="24384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Acceleration and motion signals.</a:t>
            </a:r>
            <a:endParaRPr sz="800" dirty="0"/>
          </a:p>
        </p:txBody>
      </p:sp>
      <p:sp>
        <p:nvSpPr>
          <p:cNvPr id="11" name="Text 7">
            <a:extLst>
              <a:ext uri="{FF2B5EF4-FFF2-40B4-BE49-F238E27FC236}">
                <a16:creationId xmlns:a16="http://schemas.microsoft.com/office/drawing/2014/main" id="{BC1B0E33-75D1-4824-B50F-41BDA686BFBB}"/>
              </a:ext>
            </a:extLst>
          </p:cNvPr>
          <p:cNvSpPr>
            <a:spLocks noGrp="1"/>
          </p:cNvSpPr>
          <p:nvPr/>
        </p:nvSpPr>
        <p:spPr>
          <a:xfrm>
            <a:off x="609600" y="3162300"/>
            <a:ext cx="333375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GPS / GNSS</a:t>
            </a:r>
            <a:endParaRPr sz="1600" dirty="0"/>
          </a:p>
        </p:txBody>
      </p:sp>
      <p:sp>
        <p:nvSpPr>
          <p:cNvPr id="12" name="Text 8">
            <a:extLst>
              <a:ext uri="{FF2B5EF4-FFF2-40B4-BE49-F238E27FC236}">
                <a16:creationId xmlns:a16="http://schemas.microsoft.com/office/drawing/2014/main" id="{597E6B37-BD31-4291-8BF1-50A67759DAF1}"/>
              </a:ext>
            </a:extLst>
          </p:cNvPr>
          <p:cNvSpPr>
            <a:spLocks noGrp="1"/>
          </p:cNvSpPr>
          <p:nvPr/>
        </p:nvSpPr>
        <p:spPr>
          <a:xfrm>
            <a:off x="609600" y="3419475"/>
            <a:ext cx="3333750" cy="24384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a:solidFill>
                  <a:srgbClr val="BBC6D4"/>
                </a:solidFill>
                <a:latin typeface="Aptos"/>
                <a:ea typeface="Aptos"/>
                <a:cs typeface="Aptos"/>
              </a:rPr>
              <a:t>Location, speed, and route context.</a:t>
            </a:r>
            <a:endParaRPr sz="800"/>
          </a:p>
        </p:txBody>
      </p:sp>
      <p:sp>
        <p:nvSpPr>
          <p:cNvPr id="13" name="Text 9">
            <a:extLst>
              <a:ext uri="{FF2B5EF4-FFF2-40B4-BE49-F238E27FC236}">
                <a16:creationId xmlns:a16="http://schemas.microsoft.com/office/drawing/2014/main" id="{3712718D-1DDF-4599-846C-20E4AAF27EB3}"/>
              </a:ext>
            </a:extLst>
          </p:cNvPr>
          <p:cNvSpPr>
            <a:spLocks noGrp="1"/>
          </p:cNvSpPr>
          <p:nvPr/>
        </p:nvSpPr>
        <p:spPr>
          <a:xfrm>
            <a:off x="609600" y="3663315"/>
            <a:ext cx="333375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MicroSD + Tamper</a:t>
            </a:r>
            <a:endParaRPr sz="1600" dirty="0"/>
          </a:p>
        </p:txBody>
      </p:sp>
      <p:sp>
        <p:nvSpPr>
          <p:cNvPr id="14" name="Text 10">
            <a:extLst>
              <a:ext uri="{FF2B5EF4-FFF2-40B4-BE49-F238E27FC236}">
                <a16:creationId xmlns:a16="http://schemas.microsoft.com/office/drawing/2014/main" id="{AA39E3B7-760B-46F5-AFDD-6382B8545779}"/>
              </a:ext>
            </a:extLst>
          </p:cNvPr>
          <p:cNvSpPr>
            <a:spLocks noGrp="1"/>
          </p:cNvSpPr>
          <p:nvPr/>
        </p:nvSpPr>
        <p:spPr>
          <a:xfrm>
            <a:off x="609600" y="3920490"/>
            <a:ext cx="3333750" cy="24384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Offline storage and tamper status.</a:t>
            </a:r>
            <a:endParaRPr sz="800" dirty="0"/>
          </a:p>
        </p:txBody>
      </p:sp>
      <p:sp>
        <p:nvSpPr>
          <p:cNvPr id="15" name="Text 11">
            <a:extLst>
              <a:ext uri="{FF2B5EF4-FFF2-40B4-BE49-F238E27FC236}">
                <a16:creationId xmlns:a16="http://schemas.microsoft.com/office/drawing/2014/main" id="{F4B88479-48E5-41A0-B720-F8084C4F95AE}"/>
              </a:ext>
            </a:extLst>
          </p:cNvPr>
          <p:cNvSpPr>
            <a:spLocks noGrp="1"/>
          </p:cNvSpPr>
          <p:nvPr/>
        </p:nvSpPr>
        <p:spPr>
          <a:xfrm>
            <a:off x="609600" y="4446270"/>
            <a:ext cx="4625340" cy="26670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lang="en-US" sz="1600" b="1" spc="1" dirty="0">
                <a:solidFill>
                  <a:srgbClr val="F5A623"/>
                </a:solidFill>
                <a:latin typeface="Aptos"/>
                <a:ea typeface="Aptos"/>
                <a:cs typeface="Aptos"/>
              </a:rPr>
              <a:t>RoadPulse AI </a:t>
            </a:r>
            <a:r>
              <a:rPr lang="en-US" sz="1600" b="1" spc="1">
                <a:solidFill>
                  <a:srgbClr val="F5A623"/>
                </a:solidFill>
                <a:latin typeface="Aptos"/>
                <a:ea typeface="Aptos"/>
                <a:cs typeface="Aptos"/>
              </a:rPr>
              <a:t>= IoT </a:t>
            </a:r>
            <a:r>
              <a:rPr sz="1600" b="1" spc="1">
                <a:solidFill>
                  <a:srgbClr val="F5A623"/>
                </a:solidFill>
                <a:latin typeface="Aptos"/>
                <a:ea typeface="Aptos"/>
                <a:cs typeface="Aptos"/>
              </a:rPr>
              <a:t>+ </a:t>
            </a:r>
            <a:r>
              <a:rPr sz="1600" b="1" spc="1" dirty="0">
                <a:solidFill>
                  <a:srgbClr val="F5A623"/>
                </a:solidFill>
                <a:latin typeface="Aptos"/>
                <a:ea typeface="Aptos"/>
                <a:cs typeface="Aptos"/>
              </a:rPr>
              <a:t>AI</a:t>
            </a:r>
            <a:endParaRPr sz="750" dirty="0"/>
          </a:p>
        </p:txBody>
      </p:sp>
      <p:sp>
        <p:nvSpPr>
          <p:cNvPr id="16" name="Shape 12">
            <a:extLst>
              <a:ext uri="{FF2B5EF4-FFF2-40B4-BE49-F238E27FC236}">
                <a16:creationId xmlns:a16="http://schemas.microsoft.com/office/drawing/2014/main" id="{7CA97CFD-21FB-4791-8CFD-FB446D1AE480}"/>
              </a:ext>
            </a:extLst>
          </p:cNvPr>
          <p:cNvSpPr>
            <a:spLocks noGrp="1"/>
          </p:cNvSpPr>
          <p:nvPr/>
        </p:nvSpPr>
        <p:spPr>
          <a:xfrm>
            <a:off x="4490561" y="557213"/>
            <a:ext cx="4039076" cy="3071813"/>
          </a:xfrm>
          <a:prstGeom prst="rect">
            <a:avLst/>
          </a:prstGeom>
          <a:solidFill>
            <a:srgbClr val="080C13"/>
          </a:solidFill>
        </p:spPr>
        <p:txBody>
          <a:bodyPr/>
          <a:lstStyle/>
          <a:p>
            <a:endParaRPr lang="en-US"/>
          </a:p>
        </p:txBody>
      </p:sp>
      <p:sp>
        <p:nvSpPr>
          <p:cNvPr id="17" name="Shape 13">
            <a:extLst>
              <a:ext uri="{FF2B5EF4-FFF2-40B4-BE49-F238E27FC236}">
                <a16:creationId xmlns:a16="http://schemas.microsoft.com/office/drawing/2014/main" id="{087965FE-A66B-4C03-9547-9D0018A7B26C}"/>
              </a:ext>
            </a:extLst>
          </p:cNvPr>
          <p:cNvSpPr>
            <a:spLocks noGrp="1"/>
          </p:cNvSpPr>
          <p:nvPr/>
        </p:nvSpPr>
        <p:spPr>
          <a:xfrm>
            <a:off x="4490561" y="557213"/>
            <a:ext cx="4039076" cy="14288"/>
          </a:xfrm>
          <a:prstGeom prst="rect">
            <a:avLst/>
          </a:prstGeom>
          <a:solidFill>
            <a:srgbClr val="12CFFF"/>
          </a:solidFill>
        </p:spPr>
        <p:txBody>
          <a:bodyPr/>
          <a:lstStyle/>
          <a:p>
            <a:endParaRPr lang="en-US"/>
          </a:p>
        </p:txBody>
      </p:sp>
      <p:pic>
        <p:nvPicPr>
          <p:cNvPr id="40" name="Image 1"/>
          <p:cNvPicPr>
            <a:picLocks noChangeAspect="1"/>
          </p:cNvPicPr>
          <p:nvPr/>
        </p:nvPicPr>
        <p:blipFill>
          <a:blip r:embed="rId4"/>
          <a:stretch>
            <a:fillRect/>
          </a:stretch>
        </p:blipFill>
        <p:spPr>
          <a:xfrm>
            <a:off x="4581239" y="700088"/>
            <a:ext cx="3857625" cy="3573304"/>
          </a:xfrm>
          <a:prstGeom prst="rect">
            <a:avLst/>
          </a:prstGeom>
        </p:spPr>
      </p:pic>
      <p:sp>
        <p:nvSpPr>
          <p:cNvPr id="19" name="Shape 14">
            <a:extLst>
              <a:ext uri="{FF2B5EF4-FFF2-40B4-BE49-F238E27FC236}">
                <a16:creationId xmlns:a16="http://schemas.microsoft.com/office/drawing/2014/main" id="{89A0A70B-C96E-4A24-9845-0358221BF5AE}"/>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20" name="Shape 15">
            <a:extLst>
              <a:ext uri="{FF2B5EF4-FFF2-40B4-BE49-F238E27FC236}">
                <a16:creationId xmlns:a16="http://schemas.microsoft.com/office/drawing/2014/main" id="{E4373BAA-5861-488F-A6DB-CDB4D0ED8C60}"/>
              </a:ext>
            </a:extLst>
          </p:cNvPr>
          <p:cNvSpPr>
            <a:spLocks noGrp="1"/>
          </p:cNvSpPr>
          <p:nvPr/>
        </p:nvSpPr>
        <p:spPr>
          <a:xfrm>
            <a:off x="614363" y="4793456"/>
            <a:ext cx="7915275" cy="7144"/>
          </a:xfrm>
          <a:prstGeom prst="rect">
            <a:avLst/>
          </a:prstGeom>
          <a:solidFill>
            <a:srgbClr val="FFFFFF"/>
          </a:solidFill>
        </p:spPr>
        <p:txBody>
          <a:bodyPr/>
          <a:lstStyle/>
          <a:p>
            <a:endParaRPr lang="en-US"/>
          </a:p>
        </p:txBody>
      </p:sp>
      <p:sp>
        <p:nvSpPr>
          <p:cNvPr id="21" name="Text 16">
            <a:extLst>
              <a:ext uri="{FF2B5EF4-FFF2-40B4-BE49-F238E27FC236}">
                <a16:creationId xmlns:a16="http://schemas.microsoft.com/office/drawing/2014/main" id="{3CA2D456-0605-4F64-A8AD-78924FE8DC8F}"/>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22" name="Text 17">
            <a:extLst>
              <a:ext uri="{FF2B5EF4-FFF2-40B4-BE49-F238E27FC236}">
                <a16:creationId xmlns:a16="http://schemas.microsoft.com/office/drawing/2014/main" id="{C187EC20-88C7-49DF-A0FD-CAA7D435E26D}"/>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04 / 10</a:t>
            </a:r>
            <a:endParaRPr sz="600"/>
          </a:p>
        </p:txBody>
      </p:sp>
    </p:spTree>
    <p:extLst>
      <p:ext uri="{BB962C8B-B14F-4D97-AF65-F5344CB8AC3E}">
        <p14:creationId xmlns:p14="http://schemas.microsoft.com/office/powerpoint/2010/main" val="138132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Image 0"/>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F6E9ACFA-C893-4791-A61F-0FDA19D64EFF}"/>
              </a:ext>
            </a:extLst>
          </p:cNvPr>
          <p:cNvSpPr>
            <a:spLocks noGrp="1"/>
          </p:cNvSpPr>
          <p:nvPr/>
        </p:nvSpPr>
        <p:spPr>
          <a:xfrm>
            <a:off x="609600" y="438150"/>
            <a:ext cx="792480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04 / DATA JOURNEY</a:t>
            </a:r>
            <a:endParaRPr sz="2000" dirty="0"/>
          </a:p>
        </p:txBody>
      </p:sp>
      <p:sp>
        <p:nvSpPr>
          <p:cNvPr id="5" name="Text 1">
            <a:extLst>
              <a:ext uri="{FF2B5EF4-FFF2-40B4-BE49-F238E27FC236}">
                <a16:creationId xmlns:a16="http://schemas.microsoft.com/office/drawing/2014/main" id="{9DD795E0-D10E-457E-BD28-FE7464293AC3}"/>
              </a:ext>
            </a:extLst>
          </p:cNvPr>
          <p:cNvSpPr>
            <a:spLocks noGrp="1"/>
          </p:cNvSpPr>
          <p:nvPr/>
        </p:nvSpPr>
        <p:spPr>
          <a:xfrm>
            <a:off x="609600" y="723900"/>
            <a:ext cx="7924800" cy="476250"/>
          </a:xfrm>
          <a:prstGeom prst="rect">
            <a:avLst/>
          </a:prstGeom>
          <a:noFill/>
        </p:spPr>
        <p:txBody>
          <a:bodyPr wrap="square" lIns="0" tIns="0" rIns="0" bIns="0" anchor="ctr">
            <a:noAutofit/>
          </a:bodyPr>
          <a:lstStyle/>
          <a:p>
            <a:pPr marL="0" indent="0" algn="l">
              <a:buNone/>
              <a:defRPr sz="2600" b="1">
                <a:solidFill>
                  <a:srgbClr val="F7FAFC"/>
                </a:solidFill>
                <a:latin typeface="Aptos"/>
                <a:ea typeface="Aptos"/>
                <a:cs typeface="Aptos"/>
              </a:defRPr>
            </a:pPr>
            <a:r>
              <a:rPr sz="2400" b="1" dirty="0">
                <a:solidFill>
                  <a:srgbClr val="F7FAFC"/>
                </a:solidFill>
                <a:latin typeface="Aptos"/>
                <a:ea typeface="Aptos"/>
                <a:cs typeface="Aptos"/>
              </a:rPr>
              <a:t>From vehicle signals to a supervisor decision</a:t>
            </a:r>
            <a:endParaRPr sz="2400" dirty="0"/>
          </a:p>
        </p:txBody>
      </p:sp>
      <p:sp>
        <p:nvSpPr>
          <p:cNvPr id="6" name="Text 2">
            <a:extLst>
              <a:ext uri="{FF2B5EF4-FFF2-40B4-BE49-F238E27FC236}">
                <a16:creationId xmlns:a16="http://schemas.microsoft.com/office/drawing/2014/main" id="{C003C06E-AAA3-4774-B8C5-E5631D6B48D2}"/>
              </a:ext>
            </a:extLst>
          </p:cNvPr>
          <p:cNvSpPr>
            <a:spLocks noGrp="1"/>
          </p:cNvSpPr>
          <p:nvPr/>
        </p:nvSpPr>
        <p:spPr>
          <a:xfrm>
            <a:off x="609600" y="1257300"/>
            <a:ext cx="7924800" cy="40005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One connected path keeps each event traceable from sensing to action.</a:t>
            </a:r>
            <a:endParaRPr sz="850" dirty="0"/>
          </a:p>
        </p:txBody>
      </p:sp>
      <p:sp>
        <p:nvSpPr>
          <p:cNvPr id="7" name="Shape 3">
            <a:extLst>
              <a:ext uri="{FF2B5EF4-FFF2-40B4-BE49-F238E27FC236}">
                <a16:creationId xmlns:a16="http://schemas.microsoft.com/office/drawing/2014/main" id="{8BE6B248-03EE-4382-B584-71EA09B34313}"/>
              </a:ext>
            </a:extLst>
          </p:cNvPr>
          <p:cNvSpPr>
            <a:spLocks noGrp="1"/>
          </p:cNvSpPr>
          <p:nvPr/>
        </p:nvSpPr>
        <p:spPr>
          <a:xfrm>
            <a:off x="1000125" y="2000250"/>
            <a:ext cx="323850" cy="323850"/>
          </a:xfrm>
          <a:prstGeom prst="ellipse">
            <a:avLst/>
          </a:prstGeom>
          <a:solidFill>
            <a:srgbClr val="0B1420"/>
          </a:solidFill>
          <a:ln w="19050">
            <a:solidFill>
              <a:srgbClr val="00C8F8"/>
            </a:solidFill>
            <a:prstDash val="solid"/>
          </a:ln>
        </p:spPr>
        <p:txBody>
          <a:bodyPr/>
          <a:lstStyle/>
          <a:p>
            <a:endParaRPr lang="en-US"/>
          </a:p>
        </p:txBody>
      </p:sp>
      <p:sp>
        <p:nvSpPr>
          <p:cNvPr id="8" name="Text 4">
            <a:extLst>
              <a:ext uri="{FF2B5EF4-FFF2-40B4-BE49-F238E27FC236}">
                <a16:creationId xmlns:a16="http://schemas.microsoft.com/office/drawing/2014/main" id="{58073247-A08F-4A18-A3A9-09513FC1DFC1}"/>
              </a:ext>
            </a:extLst>
          </p:cNvPr>
          <p:cNvSpPr>
            <a:spLocks noGrp="1"/>
          </p:cNvSpPr>
          <p:nvPr/>
        </p:nvSpPr>
        <p:spPr>
          <a:xfrm>
            <a:off x="1000125" y="2000250"/>
            <a:ext cx="323850" cy="3238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01</a:t>
            </a:r>
            <a:endParaRPr sz="600"/>
          </a:p>
        </p:txBody>
      </p:sp>
      <p:sp>
        <p:nvSpPr>
          <p:cNvPr id="9" name="Text 5">
            <a:extLst>
              <a:ext uri="{FF2B5EF4-FFF2-40B4-BE49-F238E27FC236}">
                <a16:creationId xmlns:a16="http://schemas.microsoft.com/office/drawing/2014/main" id="{487A9CCB-C516-4DBA-BFF1-9854428D5857}"/>
              </a:ext>
            </a:extLst>
          </p:cNvPr>
          <p:cNvSpPr>
            <a:spLocks noGrp="1"/>
          </p:cNvSpPr>
          <p:nvPr/>
        </p:nvSpPr>
        <p:spPr>
          <a:xfrm>
            <a:off x="628650" y="2419350"/>
            <a:ext cx="1066800" cy="285750"/>
          </a:xfrm>
          <a:prstGeom prst="rect">
            <a:avLst/>
          </a:prstGeom>
          <a:noFill/>
        </p:spPr>
        <p:txBody>
          <a:bodyPr wrap="square" lIns="0" tIns="0" rIns="0" bIns="0" anchor="ctr">
            <a:noAutofit/>
          </a:bodyPr>
          <a:lstStyle/>
          <a:p>
            <a:pPr marL="0" indent="0" algn="ctr">
              <a:buNone/>
              <a:defRPr sz="1600" b="1">
                <a:solidFill>
                  <a:srgbClr val="F7FAFC"/>
                </a:solidFill>
                <a:latin typeface="Aptos"/>
                <a:ea typeface="Aptos"/>
                <a:cs typeface="Aptos"/>
              </a:defRPr>
            </a:pPr>
            <a:r>
              <a:rPr sz="1600" b="1" dirty="0">
                <a:solidFill>
                  <a:srgbClr val="F7FAFC"/>
                </a:solidFill>
                <a:latin typeface="Aptos"/>
                <a:ea typeface="Aptos"/>
                <a:cs typeface="Aptos"/>
              </a:rPr>
              <a:t>Vehicle</a:t>
            </a:r>
            <a:endParaRPr sz="850" dirty="0"/>
          </a:p>
        </p:txBody>
      </p:sp>
      <p:sp>
        <p:nvSpPr>
          <p:cNvPr id="10" name="Text 6">
            <a:extLst>
              <a:ext uri="{FF2B5EF4-FFF2-40B4-BE49-F238E27FC236}">
                <a16:creationId xmlns:a16="http://schemas.microsoft.com/office/drawing/2014/main" id="{A76641C8-CDB2-4543-B56A-530EE6452473}"/>
              </a:ext>
            </a:extLst>
          </p:cNvPr>
          <p:cNvSpPr>
            <a:spLocks noGrp="1"/>
          </p:cNvSpPr>
          <p:nvPr/>
        </p:nvSpPr>
        <p:spPr>
          <a:xfrm>
            <a:off x="628650" y="2750820"/>
            <a:ext cx="1066800" cy="419100"/>
          </a:xfrm>
          <a:prstGeom prst="rect">
            <a:avLst/>
          </a:prstGeom>
          <a:noFill/>
        </p:spPr>
        <p:txBody>
          <a:bodyPr wrap="square" lIns="0" tIns="0" rIns="0" bIns="0" anchor="ctr">
            <a:noAutofit/>
          </a:bodyPr>
          <a:lstStyle/>
          <a:p>
            <a:pPr marL="0" indent="0" algn="ctr">
              <a:lnSpc>
                <a:spcPct val="104000"/>
              </a:lnSpc>
              <a:buNone/>
              <a:defRPr sz="1600" b="0">
                <a:solidFill>
                  <a:srgbClr val="BBC6D4"/>
                </a:solidFill>
                <a:latin typeface="Aptos"/>
                <a:ea typeface="Aptos"/>
                <a:cs typeface="Aptos"/>
              </a:defRPr>
            </a:pPr>
            <a:r>
              <a:rPr sz="1600" b="0" dirty="0">
                <a:solidFill>
                  <a:srgbClr val="BBC6D4"/>
                </a:solidFill>
                <a:latin typeface="Aptos"/>
                <a:ea typeface="Aptos"/>
                <a:cs typeface="Aptos"/>
              </a:rPr>
              <a:t>Motion + GPS</a:t>
            </a:r>
            <a:endParaRPr sz="750" dirty="0"/>
          </a:p>
        </p:txBody>
      </p:sp>
      <p:sp>
        <p:nvSpPr>
          <p:cNvPr id="11" name="Shape 7">
            <a:extLst>
              <a:ext uri="{FF2B5EF4-FFF2-40B4-BE49-F238E27FC236}">
                <a16:creationId xmlns:a16="http://schemas.microsoft.com/office/drawing/2014/main" id="{6B3FF265-7484-429C-AE3E-B942713C7616}"/>
              </a:ext>
            </a:extLst>
          </p:cNvPr>
          <p:cNvSpPr>
            <a:spLocks noGrp="1"/>
          </p:cNvSpPr>
          <p:nvPr/>
        </p:nvSpPr>
        <p:spPr>
          <a:xfrm>
            <a:off x="2143125" y="2000250"/>
            <a:ext cx="323850" cy="323850"/>
          </a:xfrm>
          <a:prstGeom prst="ellipse">
            <a:avLst/>
          </a:prstGeom>
          <a:solidFill>
            <a:srgbClr val="0B1420"/>
          </a:solidFill>
          <a:ln w="19050">
            <a:solidFill>
              <a:srgbClr val="00C8F8"/>
            </a:solidFill>
            <a:prstDash val="solid"/>
          </a:ln>
        </p:spPr>
        <p:txBody>
          <a:bodyPr/>
          <a:lstStyle/>
          <a:p>
            <a:endParaRPr lang="en-US"/>
          </a:p>
        </p:txBody>
      </p:sp>
      <p:sp>
        <p:nvSpPr>
          <p:cNvPr id="12" name="Text 8">
            <a:extLst>
              <a:ext uri="{FF2B5EF4-FFF2-40B4-BE49-F238E27FC236}">
                <a16:creationId xmlns:a16="http://schemas.microsoft.com/office/drawing/2014/main" id="{99AA531B-CE9A-49EA-A6BA-D89192740E24}"/>
              </a:ext>
            </a:extLst>
          </p:cNvPr>
          <p:cNvSpPr>
            <a:spLocks noGrp="1"/>
          </p:cNvSpPr>
          <p:nvPr/>
        </p:nvSpPr>
        <p:spPr>
          <a:xfrm>
            <a:off x="2143125" y="2000250"/>
            <a:ext cx="323850" cy="3238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02</a:t>
            </a:r>
            <a:endParaRPr sz="600"/>
          </a:p>
        </p:txBody>
      </p:sp>
      <p:sp>
        <p:nvSpPr>
          <p:cNvPr id="13" name="Text 9">
            <a:extLst>
              <a:ext uri="{FF2B5EF4-FFF2-40B4-BE49-F238E27FC236}">
                <a16:creationId xmlns:a16="http://schemas.microsoft.com/office/drawing/2014/main" id="{F479E0F1-3839-4579-BEF3-8EDD339325D3}"/>
              </a:ext>
            </a:extLst>
          </p:cNvPr>
          <p:cNvSpPr>
            <a:spLocks noGrp="1"/>
          </p:cNvSpPr>
          <p:nvPr/>
        </p:nvSpPr>
        <p:spPr>
          <a:xfrm>
            <a:off x="1771650" y="2419350"/>
            <a:ext cx="1066800" cy="285750"/>
          </a:xfrm>
          <a:prstGeom prst="rect">
            <a:avLst/>
          </a:prstGeom>
          <a:noFill/>
        </p:spPr>
        <p:txBody>
          <a:bodyPr wrap="square" lIns="0" tIns="0" rIns="0" bIns="0" anchor="ctr">
            <a:noAutofit/>
          </a:bodyPr>
          <a:lstStyle/>
          <a:p>
            <a:pPr marL="0" indent="0" algn="ctr">
              <a:buNone/>
              <a:defRPr sz="1600" b="1">
                <a:solidFill>
                  <a:srgbClr val="F7FAFC"/>
                </a:solidFill>
                <a:latin typeface="Aptos"/>
                <a:ea typeface="Aptos"/>
                <a:cs typeface="Aptos"/>
              </a:defRPr>
            </a:pPr>
            <a:r>
              <a:rPr sz="1600" b="1">
                <a:solidFill>
                  <a:srgbClr val="F7FAFC"/>
                </a:solidFill>
                <a:latin typeface="Aptos"/>
                <a:ea typeface="Aptos"/>
                <a:cs typeface="Aptos"/>
              </a:rPr>
              <a:t>Signals</a:t>
            </a:r>
            <a:endParaRPr sz="850"/>
          </a:p>
        </p:txBody>
      </p:sp>
      <p:sp>
        <p:nvSpPr>
          <p:cNvPr id="14" name="Text 10">
            <a:extLst>
              <a:ext uri="{FF2B5EF4-FFF2-40B4-BE49-F238E27FC236}">
                <a16:creationId xmlns:a16="http://schemas.microsoft.com/office/drawing/2014/main" id="{7C168AF9-B9CF-42C4-8ABC-DEE711CEEA8A}"/>
              </a:ext>
            </a:extLst>
          </p:cNvPr>
          <p:cNvSpPr>
            <a:spLocks noGrp="1"/>
          </p:cNvSpPr>
          <p:nvPr/>
        </p:nvSpPr>
        <p:spPr>
          <a:xfrm>
            <a:off x="1771650" y="2743200"/>
            <a:ext cx="1066800" cy="419100"/>
          </a:xfrm>
          <a:prstGeom prst="rect">
            <a:avLst/>
          </a:prstGeom>
          <a:noFill/>
        </p:spPr>
        <p:txBody>
          <a:bodyPr wrap="square" lIns="0" tIns="0" rIns="0" bIns="0" anchor="ctr">
            <a:noAutofit/>
          </a:bodyPr>
          <a:lstStyle/>
          <a:p>
            <a:pPr marL="0" indent="0" algn="ctr">
              <a:lnSpc>
                <a:spcPct val="104000"/>
              </a:lnSpc>
              <a:buNone/>
              <a:defRPr sz="1600" b="0">
                <a:solidFill>
                  <a:srgbClr val="BBC6D4"/>
                </a:solidFill>
                <a:latin typeface="Aptos"/>
                <a:ea typeface="Aptos"/>
                <a:cs typeface="Aptos"/>
              </a:defRPr>
            </a:pPr>
            <a:r>
              <a:rPr sz="1600" b="0" dirty="0">
                <a:solidFill>
                  <a:srgbClr val="BBC6D4"/>
                </a:solidFill>
                <a:latin typeface="Aptos"/>
                <a:ea typeface="Aptos"/>
                <a:cs typeface="Aptos"/>
              </a:rPr>
              <a:t>Clean readings</a:t>
            </a:r>
            <a:endParaRPr sz="750" dirty="0"/>
          </a:p>
        </p:txBody>
      </p:sp>
      <p:sp>
        <p:nvSpPr>
          <p:cNvPr id="15" name="Shape 11">
            <a:extLst>
              <a:ext uri="{FF2B5EF4-FFF2-40B4-BE49-F238E27FC236}">
                <a16:creationId xmlns:a16="http://schemas.microsoft.com/office/drawing/2014/main" id="{1ECAB78A-862F-4E7A-AB81-5780C7039F3B}"/>
              </a:ext>
            </a:extLst>
          </p:cNvPr>
          <p:cNvSpPr>
            <a:spLocks noGrp="1"/>
          </p:cNvSpPr>
          <p:nvPr/>
        </p:nvSpPr>
        <p:spPr>
          <a:xfrm>
            <a:off x="3286125" y="2000250"/>
            <a:ext cx="323850" cy="323850"/>
          </a:xfrm>
          <a:prstGeom prst="ellipse">
            <a:avLst/>
          </a:prstGeom>
          <a:solidFill>
            <a:srgbClr val="0B1420"/>
          </a:solidFill>
          <a:ln w="19050">
            <a:solidFill>
              <a:srgbClr val="00C8F8"/>
            </a:solidFill>
            <a:prstDash val="solid"/>
          </a:ln>
        </p:spPr>
        <p:txBody>
          <a:bodyPr/>
          <a:lstStyle/>
          <a:p>
            <a:endParaRPr lang="en-US"/>
          </a:p>
        </p:txBody>
      </p:sp>
      <p:sp>
        <p:nvSpPr>
          <p:cNvPr id="16" name="Text 12">
            <a:extLst>
              <a:ext uri="{FF2B5EF4-FFF2-40B4-BE49-F238E27FC236}">
                <a16:creationId xmlns:a16="http://schemas.microsoft.com/office/drawing/2014/main" id="{73FAA8C0-B4F2-4402-8E28-253351265D61}"/>
              </a:ext>
            </a:extLst>
          </p:cNvPr>
          <p:cNvSpPr>
            <a:spLocks noGrp="1"/>
          </p:cNvSpPr>
          <p:nvPr/>
        </p:nvSpPr>
        <p:spPr>
          <a:xfrm>
            <a:off x="3286125" y="2000250"/>
            <a:ext cx="323850" cy="3238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03</a:t>
            </a:r>
            <a:endParaRPr sz="600"/>
          </a:p>
        </p:txBody>
      </p:sp>
      <p:sp>
        <p:nvSpPr>
          <p:cNvPr id="17" name="Text 13">
            <a:extLst>
              <a:ext uri="{FF2B5EF4-FFF2-40B4-BE49-F238E27FC236}">
                <a16:creationId xmlns:a16="http://schemas.microsoft.com/office/drawing/2014/main" id="{B458452D-B012-4B20-9E81-0A7784A034F9}"/>
              </a:ext>
            </a:extLst>
          </p:cNvPr>
          <p:cNvSpPr>
            <a:spLocks noGrp="1"/>
          </p:cNvSpPr>
          <p:nvPr/>
        </p:nvSpPr>
        <p:spPr>
          <a:xfrm>
            <a:off x="2914650" y="2419350"/>
            <a:ext cx="1066800" cy="285750"/>
          </a:xfrm>
          <a:prstGeom prst="rect">
            <a:avLst/>
          </a:prstGeom>
          <a:noFill/>
        </p:spPr>
        <p:txBody>
          <a:bodyPr wrap="square" lIns="0" tIns="0" rIns="0" bIns="0" anchor="ctr">
            <a:noAutofit/>
          </a:bodyPr>
          <a:lstStyle/>
          <a:p>
            <a:pPr marL="0" indent="0" algn="ctr">
              <a:buNone/>
              <a:defRPr sz="1600" b="1">
                <a:solidFill>
                  <a:srgbClr val="F7FAFC"/>
                </a:solidFill>
                <a:latin typeface="Aptos"/>
                <a:ea typeface="Aptos"/>
                <a:cs typeface="Aptos"/>
              </a:defRPr>
            </a:pPr>
            <a:r>
              <a:rPr sz="1600" b="1" dirty="0">
                <a:solidFill>
                  <a:srgbClr val="F7FAFC"/>
                </a:solidFill>
                <a:latin typeface="Aptos"/>
                <a:ea typeface="Aptos"/>
                <a:cs typeface="Aptos"/>
              </a:rPr>
              <a:t>Link</a:t>
            </a:r>
            <a:endParaRPr sz="850" dirty="0"/>
          </a:p>
        </p:txBody>
      </p:sp>
      <p:sp>
        <p:nvSpPr>
          <p:cNvPr id="18" name="Text 14">
            <a:extLst>
              <a:ext uri="{FF2B5EF4-FFF2-40B4-BE49-F238E27FC236}">
                <a16:creationId xmlns:a16="http://schemas.microsoft.com/office/drawing/2014/main" id="{5759ED6D-35E0-4DF8-BB33-EB3CDFDBDDE7}"/>
              </a:ext>
            </a:extLst>
          </p:cNvPr>
          <p:cNvSpPr>
            <a:spLocks noGrp="1"/>
          </p:cNvSpPr>
          <p:nvPr/>
        </p:nvSpPr>
        <p:spPr>
          <a:xfrm>
            <a:off x="2914650" y="2743200"/>
            <a:ext cx="1066800" cy="419100"/>
          </a:xfrm>
          <a:prstGeom prst="rect">
            <a:avLst/>
          </a:prstGeom>
          <a:noFill/>
        </p:spPr>
        <p:txBody>
          <a:bodyPr wrap="square" lIns="0" tIns="0" rIns="0" bIns="0" anchor="ctr">
            <a:noAutofit/>
          </a:bodyPr>
          <a:lstStyle/>
          <a:p>
            <a:pPr marL="0" indent="0" algn="ctr">
              <a:lnSpc>
                <a:spcPct val="104000"/>
              </a:lnSpc>
              <a:buNone/>
              <a:defRPr sz="1600" b="0">
                <a:solidFill>
                  <a:srgbClr val="BBC6D4"/>
                </a:solidFill>
                <a:latin typeface="Aptos"/>
                <a:ea typeface="Aptos"/>
                <a:cs typeface="Aptos"/>
              </a:defRPr>
            </a:pPr>
            <a:r>
              <a:rPr sz="1600" b="0">
                <a:solidFill>
                  <a:srgbClr val="BBC6D4"/>
                </a:solidFill>
                <a:latin typeface="Aptos"/>
                <a:ea typeface="Aptos"/>
                <a:cs typeface="Aptos"/>
              </a:rPr>
              <a:t>Secure events</a:t>
            </a:r>
            <a:endParaRPr sz="750"/>
          </a:p>
        </p:txBody>
      </p:sp>
      <p:sp>
        <p:nvSpPr>
          <p:cNvPr id="19" name="Shape 15">
            <a:extLst>
              <a:ext uri="{FF2B5EF4-FFF2-40B4-BE49-F238E27FC236}">
                <a16:creationId xmlns:a16="http://schemas.microsoft.com/office/drawing/2014/main" id="{A7D42463-777E-4466-B2E1-34A49404834B}"/>
              </a:ext>
            </a:extLst>
          </p:cNvPr>
          <p:cNvSpPr>
            <a:spLocks noGrp="1"/>
          </p:cNvSpPr>
          <p:nvPr/>
        </p:nvSpPr>
        <p:spPr>
          <a:xfrm>
            <a:off x="4429125" y="2000250"/>
            <a:ext cx="323850" cy="323850"/>
          </a:xfrm>
          <a:prstGeom prst="ellipse">
            <a:avLst/>
          </a:prstGeom>
          <a:solidFill>
            <a:srgbClr val="0B1420"/>
          </a:solidFill>
          <a:ln w="19050">
            <a:solidFill>
              <a:srgbClr val="00C8F8"/>
            </a:solidFill>
            <a:prstDash val="solid"/>
          </a:ln>
        </p:spPr>
        <p:txBody>
          <a:bodyPr/>
          <a:lstStyle/>
          <a:p>
            <a:endParaRPr lang="en-US"/>
          </a:p>
        </p:txBody>
      </p:sp>
      <p:sp>
        <p:nvSpPr>
          <p:cNvPr id="20" name="Text 16">
            <a:extLst>
              <a:ext uri="{FF2B5EF4-FFF2-40B4-BE49-F238E27FC236}">
                <a16:creationId xmlns:a16="http://schemas.microsoft.com/office/drawing/2014/main" id="{F8B0CECB-B435-41F5-B682-90F37DA7DCF3}"/>
              </a:ext>
            </a:extLst>
          </p:cNvPr>
          <p:cNvSpPr>
            <a:spLocks noGrp="1"/>
          </p:cNvSpPr>
          <p:nvPr/>
        </p:nvSpPr>
        <p:spPr>
          <a:xfrm>
            <a:off x="4429125" y="2000250"/>
            <a:ext cx="323850" cy="3238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04</a:t>
            </a:r>
            <a:endParaRPr sz="600"/>
          </a:p>
        </p:txBody>
      </p:sp>
      <p:sp>
        <p:nvSpPr>
          <p:cNvPr id="21" name="Text 17">
            <a:extLst>
              <a:ext uri="{FF2B5EF4-FFF2-40B4-BE49-F238E27FC236}">
                <a16:creationId xmlns:a16="http://schemas.microsoft.com/office/drawing/2014/main" id="{44778F3F-720E-4AC9-932E-033F92C6C9BB}"/>
              </a:ext>
            </a:extLst>
          </p:cNvPr>
          <p:cNvSpPr>
            <a:spLocks noGrp="1"/>
          </p:cNvSpPr>
          <p:nvPr/>
        </p:nvSpPr>
        <p:spPr>
          <a:xfrm>
            <a:off x="4057650" y="2419350"/>
            <a:ext cx="1066800" cy="285750"/>
          </a:xfrm>
          <a:prstGeom prst="rect">
            <a:avLst/>
          </a:prstGeom>
          <a:noFill/>
        </p:spPr>
        <p:txBody>
          <a:bodyPr wrap="square" lIns="0" tIns="0" rIns="0" bIns="0" anchor="ctr">
            <a:noAutofit/>
          </a:bodyPr>
          <a:lstStyle/>
          <a:p>
            <a:pPr marL="0" indent="0" algn="ctr">
              <a:buNone/>
              <a:defRPr sz="1600" b="1">
                <a:solidFill>
                  <a:srgbClr val="F7FAFC"/>
                </a:solidFill>
                <a:latin typeface="Aptos"/>
                <a:ea typeface="Aptos"/>
                <a:cs typeface="Aptos"/>
              </a:defRPr>
            </a:pPr>
            <a:r>
              <a:rPr sz="1600" b="1">
                <a:solidFill>
                  <a:srgbClr val="F7FAFC"/>
                </a:solidFill>
                <a:latin typeface="Aptos"/>
                <a:ea typeface="Aptos"/>
                <a:cs typeface="Aptos"/>
              </a:rPr>
              <a:t>Backend</a:t>
            </a:r>
            <a:endParaRPr sz="850"/>
          </a:p>
        </p:txBody>
      </p:sp>
      <p:sp>
        <p:nvSpPr>
          <p:cNvPr id="22" name="Text 18">
            <a:extLst>
              <a:ext uri="{FF2B5EF4-FFF2-40B4-BE49-F238E27FC236}">
                <a16:creationId xmlns:a16="http://schemas.microsoft.com/office/drawing/2014/main" id="{67501858-CFF0-457A-8D4E-09E50B3E9974}"/>
              </a:ext>
            </a:extLst>
          </p:cNvPr>
          <p:cNvSpPr>
            <a:spLocks noGrp="1"/>
          </p:cNvSpPr>
          <p:nvPr/>
        </p:nvSpPr>
        <p:spPr>
          <a:xfrm>
            <a:off x="4057650" y="2743200"/>
            <a:ext cx="1066800" cy="419100"/>
          </a:xfrm>
          <a:prstGeom prst="rect">
            <a:avLst/>
          </a:prstGeom>
          <a:noFill/>
        </p:spPr>
        <p:txBody>
          <a:bodyPr wrap="square" lIns="0" tIns="0" rIns="0" bIns="0" anchor="ctr">
            <a:noAutofit/>
          </a:bodyPr>
          <a:lstStyle/>
          <a:p>
            <a:pPr marL="0" indent="0" algn="ctr">
              <a:lnSpc>
                <a:spcPct val="104000"/>
              </a:lnSpc>
              <a:buNone/>
              <a:defRPr sz="1600" b="0">
                <a:solidFill>
                  <a:srgbClr val="BBC6D4"/>
                </a:solidFill>
                <a:latin typeface="Aptos"/>
                <a:ea typeface="Aptos"/>
                <a:cs typeface="Aptos"/>
              </a:defRPr>
            </a:pPr>
            <a:r>
              <a:rPr sz="1600" b="0" dirty="0">
                <a:solidFill>
                  <a:srgbClr val="BBC6D4"/>
                </a:solidFill>
                <a:latin typeface="Aptos"/>
                <a:ea typeface="Aptos"/>
                <a:cs typeface="Aptos"/>
              </a:rPr>
              <a:t>Validate + store</a:t>
            </a:r>
            <a:endParaRPr sz="750" dirty="0"/>
          </a:p>
        </p:txBody>
      </p:sp>
      <p:sp>
        <p:nvSpPr>
          <p:cNvPr id="23" name="Shape 19">
            <a:extLst>
              <a:ext uri="{FF2B5EF4-FFF2-40B4-BE49-F238E27FC236}">
                <a16:creationId xmlns:a16="http://schemas.microsoft.com/office/drawing/2014/main" id="{A1341DA0-C266-4CC8-B844-F16679CB0218}"/>
              </a:ext>
            </a:extLst>
          </p:cNvPr>
          <p:cNvSpPr>
            <a:spLocks noGrp="1"/>
          </p:cNvSpPr>
          <p:nvPr/>
        </p:nvSpPr>
        <p:spPr>
          <a:xfrm>
            <a:off x="5572125" y="2000250"/>
            <a:ext cx="323850" cy="323850"/>
          </a:xfrm>
          <a:prstGeom prst="ellipse">
            <a:avLst/>
          </a:prstGeom>
          <a:solidFill>
            <a:srgbClr val="0B1420"/>
          </a:solidFill>
          <a:ln w="19050">
            <a:solidFill>
              <a:srgbClr val="F5A623"/>
            </a:solidFill>
            <a:prstDash val="solid"/>
          </a:ln>
        </p:spPr>
        <p:txBody>
          <a:bodyPr/>
          <a:lstStyle/>
          <a:p>
            <a:endParaRPr lang="en-US"/>
          </a:p>
        </p:txBody>
      </p:sp>
      <p:sp>
        <p:nvSpPr>
          <p:cNvPr id="24" name="Text 20">
            <a:extLst>
              <a:ext uri="{FF2B5EF4-FFF2-40B4-BE49-F238E27FC236}">
                <a16:creationId xmlns:a16="http://schemas.microsoft.com/office/drawing/2014/main" id="{083F2654-6A30-4FCC-86BB-508F7BD658E5}"/>
              </a:ext>
            </a:extLst>
          </p:cNvPr>
          <p:cNvSpPr>
            <a:spLocks noGrp="1"/>
          </p:cNvSpPr>
          <p:nvPr/>
        </p:nvSpPr>
        <p:spPr>
          <a:xfrm>
            <a:off x="5572125" y="2000250"/>
            <a:ext cx="323850" cy="323850"/>
          </a:xfrm>
          <a:prstGeom prst="rect">
            <a:avLst/>
          </a:prstGeom>
          <a:noFill/>
        </p:spPr>
        <p:txBody>
          <a:bodyPr wrap="square" lIns="0" tIns="0" rIns="0" bIns="0" anchor="ctr">
            <a:noAutofit/>
          </a:bodyPr>
          <a:lstStyle/>
          <a:p>
            <a:pPr marL="0" indent="0" algn="ctr">
              <a:buNone/>
              <a:defRPr sz="1600" b="1">
                <a:solidFill>
                  <a:srgbClr val="F5A623"/>
                </a:solidFill>
                <a:latin typeface="Aptos"/>
                <a:ea typeface="Aptos"/>
                <a:cs typeface="Aptos"/>
              </a:defRPr>
            </a:pPr>
            <a:r>
              <a:rPr sz="1600" b="1">
                <a:solidFill>
                  <a:srgbClr val="F5A623"/>
                </a:solidFill>
                <a:latin typeface="Aptos"/>
                <a:ea typeface="Aptos"/>
                <a:cs typeface="Aptos"/>
              </a:rPr>
              <a:t>05</a:t>
            </a:r>
            <a:endParaRPr sz="600"/>
          </a:p>
        </p:txBody>
      </p:sp>
      <p:sp>
        <p:nvSpPr>
          <p:cNvPr id="25" name="Text 21">
            <a:extLst>
              <a:ext uri="{FF2B5EF4-FFF2-40B4-BE49-F238E27FC236}">
                <a16:creationId xmlns:a16="http://schemas.microsoft.com/office/drawing/2014/main" id="{35E7FF3E-4D11-4B5D-A3EB-881D661D5B40}"/>
              </a:ext>
            </a:extLst>
          </p:cNvPr>
          <p:cNvSpPr>
            <a:spLocks noGrp="1"/>
          </p:cNvSpPr>
          <p:nvPr/>
        </p:nvSpPr>
        <p:spPr>
          <a:xfrm>
            <a:off x="5200650" y="2419350"/>
            <a:ext cx="1066800" cy="285750"/>
          </a:xfrm>
          <a:prstGeom prst="rect">
            <a:avLst/>
          </a:prstGeom>
          <a:noFill/>
        </p:spPr>
        <p:txBody>
          <a:bodyPr wrap="square" lIns="0" tIns="0" rIns="0" bIns="0" anchor="ctr">
            <a:noAutofit/>
          </a:bodyPr>
          <a:lstStyle/>
          <a:p>
            <a:pPr marL="0" indent="0" algn="ctr">
              <a:buNone/>
              <a:defRPr sz="1600" b="1">
                <a:solidFill>
                  <a:srgbClr val="F7FAFC"/>
                </a:solidFill>
                <a:latin typeface="Aptos"/>
                <a:ea typeface="Aptos"/>
                <a:cs typeface="Aptos"/>
              </a:defRPr>
            </a:pPr>
            <a:r>
              <a:rPr sz="1600" b="1">
                <a:solidFill>
                  <a:srgbClr val="F7FAFC"/>
                </a:solidFill>
                <a:latin typeface="Aptos"/>
                <a:ea typeface="Aptos"/>
                <a:cs typeface="Aptos"/>
              </a:rPr>
              <a:t>Database</a:t>
            </a:r>
            <a:endParaRPr sz="850"/>
          </a:p>
        </p:txBody>
      </p:sp>
      <p:sp>
        <p:nvSpPr>
          <p:cNvPr id="26" name="Text 22">
            <a:extLst>
              <a:ext uri="{FF2B5EF4-FFF2-40B4-BE49-F238E27FC236}">
                <a16:creationId xmlns:a16="http://schemas.microsoft.com/office/drawing/2014/main" id="{D539FA50-8D51-4097-B997-2C0419FFA0DA}"/>
              </a:ext>
            </a:extLst>
          </p:cNvPr>
          <p:cNvSpPr>
            <a:spLocks noGrp="1"/>
          </p:cNvSpPr>
          <p:nvPr/>
        </p:nvSpPr>
        <p:spPr>
          <a:xfrm>
            <a:off x="5200650" y="2743200"/>
            <a:ext cx="1066800" cy="419100"/>
          </a:xfrm>
          <a:prstGeom prst="rect">
            <a:avLst/>
          </a:prstGeom>
          <a:noFill/>
        </p:spPr>
        <p:txBody>
          <a:bodyPr wrap="square" lIns="0" tIns="0" rIns="0" bIns="0" anchor="ctr">
            <a:noAutofit/>
          </a:bodyPr>
          <a:lstStyle/>
          <a:p>
            <a:pPr marL="0" indent="0" algn="ctr">
              <a:lnSpc>
                <a:spcPct val="104000"/>
              </a:lnSpc>
              <a:buNone/>
              <a:defRPr sz="1600" b="0">
                <a:solidFill>
                  <a:srgbClr val="BBC6D4"/>
                </a:solidFill>
                <a:latin typeface="Aptos"/>
                <a:ea typeface="Aptos"/>
                <a:cs typeface="Aptos"/>
              </a:defRPr>
            </a:pPr>
            <a:r>
              <a:rPr sz="1600" b="0" dirty="0">
                <a:solidFill>
                  <a:srgbClr val="BBC6D4"/>
                </a:solidFill>
                <a:latin typeface="Aptos"/>
                <a:ea typeface="Aptos"/>
                <a:cs typeface="Aptos"/>
              </a:rPr>
              <a:t>Trip context</a:t>
            </a:r>
            <a:endParaRPr sz="750" dirty="0"/>
          </a:p>
        </p:txBody>
      </p:sp>
      <p:sp>
        <p:nvSpPr>
          <p:cNvPr id="27" name="Shape 23">
            <a:extLst>
              <a:ext uri="{FF2B5EF4-FFF2-40B4-BE49-F238E27FC236}">
                <a16:creationId xmlns:a16="http://schemas.microsoft.com/office/drawing/2014/main" id="{1D2CF36C-BDB7-4248-AF85-D301830E7A70}"/>
              </a:ext>
            </a:extLst>
          </p:cNvPr>
          <p:cNvSpPr>
            <a:spLocks noGrp="1"/>
          </p:cNvSpPr>
          <p:nvPr/>
        </p:nvSpPr>
        <p:spPr>
          <a:xfrm>
            <a:off x="6715125" y="2000250"/>
            <a:ext cx="323850" cy="323850"/>
          </a:xfrm>
          <a:prstGeom prst="ellipse">
            <a:avLst/>
          </a:prstGeom>
          <a:solidFill>
            <a:srgbClr val="0B1420"/>
          </a:solidFill>
          <a:ln w="19050">
            <a:solidFill>
              <a:srgbClr val="00C8F8"/>
            </a:solidFill>
            <a:prstDash val="solid"/>
          </a:ln>
        </p:spPr>
        <p:txBody>
          <a:bodyPr/>
          <a:lstStyle/>
          <a:p>
            <a:endParaRPr lang="en-US"/>
          </a:p>
        </p:txBody>
      </p:sp>
      <p:sp>
        <p:nvSpPr>
          <p:cNvPr id="28" name="Text 24">
            <a:extLst>
              <a:ext uri="{FF2B5EF4-FFF2-40B4-BE49-F238E27FC236}">
                <a16:creationId xmlns:a16="http://schemas.microsoft.com/office/drawing/2014/main" id="{90AAE704-4F21-44A6-96CD-84D78EDCB759}"/>
              </a:ext>
            </a:extLst>
          </p:cNvPr>
          <p:cNvSpPr>
            <a:spLocks noGrp="1"/>
          </p:cNvSpPr>
          <p:nvPr/>
        </p:nvSpPr>
        <p:spPr>
          <a:xfrm>
            <a:off x="6715125" y="2000250"/>
            <a:ext cx="323850" cy="3238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06</a:t>
            </a:r>
            <a:endParaRPr sz="600"/>
          </a:p>
        </p:txBody>
      </p:sp>
      <p:sp>
        <p:nvSpPr>
          <p:cNvPr id="29" name="Text 25">
            <a:extLst>
              <a:ext uri="{FF2B5EF4-FFF2-40B4-BE49-F238E27FC236}">
                <a16:creationId xmlns:a16="http://schemas.microsoft.com/office/drawing/2014/main" id="{DBD254FA-434E-448C-996B-3DBEECE357E6}"/>
              </a:ext>
            </a:extLst>
          </p:cNvPr>
          <p:cNvSpPr>
            <a:spLocks noGrp="1"/>
          </p:cNvSpPr>
          <p:nvPr/>
        </p:nvSpPr>
        <p:spPr>
          <a:xfrm>
            <a:off x="6343650" y="2419350"/>
            <a:ext cx="1066800" cy="285750"/>
          </a:xfrm>
          <a:prstGeom prst="rect">
            <a:avLst/>
          </a:prstGeom>
          <a:noFill/>
        </p:spPr>
        <p:txBody>
          <a:bodyPr wrap="square" lIns="0" tIns="0" rIns="0" bIns="0" anchor="ctr">
            <a:noAutofit/>
          </a:bodyPr>
          <a:lstStyle/>
          <a:p>
            <a:pPr marL="0" indent="0" algn="ctr">
              <a:buNone/>
              <a:defRPr sz="1600" b="1">
                <a:solidFill>
                  <a:srgbClr val="F7FAFC"/>
                </a:solidFill>
                <a:latin typeface="Aptos"/>
                <a:ea typeface="Aptos"/>
                <a:cs typeface="Aptos"/>
              </a:defRPr>
            </a:pPr>
            <a:r>
              <a:rPr sz="1600" b="1">
                <a:solidFill>
                  <a:srgbClr val="F7FAFC"/>
                </a:solidFill>
                <a:latin typeface="Aptos"/>
                <a:ea typeface="Aptos"/>
                <a:cs typeface="Aptos"/>
              </a:rPr>
              <a:t>AI</a:t>
            </a:r>
            <a:endParaRPr sz="850"/>
          </a:p>
        </p:txBody>
      </p:sp>
      <p:sp>
        <p:nvSpPr>
          <p:cNvPr id="30" name="Text 26">
            <a:extLst>
              <a:ext uri="{FF2B5EF4-FFF2-40B4-BE49-F238E27FC236}">
                <a16:creationId xmlns:a16="http://schemas.microsoft.com/office/drawing/2014/main" id="{4B897209-6736-4E0B-8CA2-DAE496E78142}"/>
              </a:ext>
            </a:extLst>
          </p:cNvPr>
          <p:cNvSpPr>
            <a:spLocks noGrp="1"/>
          </p:cNvSpPr>
          <p:nvPr/>
        </p:nvSpPr>
        <p:spPr>
          <a:xfrm>
            <a:off x="6343650" y="2743200"/>
            <a:ext cx="1066800" cy="419100"/>
          </a:xfrm>
          <a:prstGeom prst="rect">
            <a:avLst/>
          </a:prstGeom>
          <a:noFill/>
        </p:spPr>
        <p:txBody>
          <a:bodyPr wrap="square" lIns="0" tIns="0" rIns="0" bIns="0" anchor="ctr">
            <a:noAutofit/>
          </a:bodyPr>
          <a:lstStyle/>
          <a:p>
            <a:pPr marL="0" indent="0" algn="ctr">
              <a:lnSpc>
                <a:spcPct val="104000"/>
              </a:lnSpc>
              <a:buNone/>
              <a:defRPr sz="1600" b="0">
                <a:solidFill>
                  <a:srgbClr val="BBC6D4"/>
                </a:solidFill>
                <a:latin typeface="Aptos"/>
                <a:ea typeface="Aptos"/>
                <a:cs typeface="Aptos"/>
              </a:defRPr>
            </a:pPr>
            <a:r>
              <a:rPr sz="1600" b="0">
                <a:solidFill>
                  <a:srgbClr val="BBC6D4"/>
                </a:solidFill>
                <a:latin typeface="Aptos"/>
                <a:ea typeface="Aptos"/>
                <a:cs typeface="Aptos"/>
              </a:rPr>
              <a:t>Classify cause</a:t>
            </a:r>
            <a:endParaRPr sz="750"/>
          </a:p>
        </p:txBody>
      </p:sp>
      <p:sp>
        <p:nvSpPr>
          <p:cNvPr id="31" name="Shape 27">
            <a:extLst>
              <a:ext uri="{FF2B5EF4-FFF2-40B4-BE49-F238E27FC236}">
                <a16:creationId xmlns:a16="http://schemas.microsoft.com/office/drawing/2014/main" id="{15C59FEB-65BD-4859-8274-3AC25D019219}"/>
              </a:ext>
            </a:extLst>
          </p:cNvPr>
          <p:cNvSpPr>
            <a:spLocks noGrp="1"/>
          </p:cNvSpPr>
          <p:nvPr/>
        </p:nvSpPr>
        <p:spPr>
          <a:xfrm>
            <a:off x="7858125" y="2000250"/>
            <a:ext cx="323850" cy="323850"/>
          </a:xfrm>
          <a:prstGeom prst="ellipse">
            <a:avLst/>
          </a:prstGeom>
          <a:solidFill>
            <a:srgbClr val="0B1420"/>
          </a:solidFill>
          <a:ln w="19050">
            <a:solidFill>
              <a:srgbClr val="00C8F8"/>
            </a:solidFill>
            <a:prstDash val="solid"/>
          </a:ln>
        </p:spPr>
        <p:txBody>
          <a:bodyPr/>
          <a:lstStyle/>
          <a:p>
            <a:endParaRPr lang="en-US"/>
          </a:p>
        </p:txBody>
      </p:sp>
      <p:sp>
        <p:nvSpPr>
          <p:cNvPr id="32" name="Text 28">
            <a:extLst>
              <a:ext uri="{FF2B5EF4-FFF2-40B4-BE49-F238E27FC236}">
                <a16:creationId xmlns:a16="http://schemas.microsoft.com/office/drawing/2014/main" id="{69B2199B-517F-4EA0-A834-4749FC712173}"/>
              </a:ext>
            </a:extLst>
          </p:cNvPr>
          <p:cNvSpPr>
            <a:spLocks noGrp="1"/>
          </p:cNvSpPr>
          <p:nvPr/>
        </p:nvSpPr>
        <p:spPr>
          <a:xfrm>
            <a:off x="7858125" y="2000250"/>
            <a:ext cx="323850" cy="32385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07</a:t>
            </a:r>
            <a:endParaRPr sz="600"/>
          </a:p>
        </p:txBody>
      </p:sp>
      <p:sp>
        <p:nvSpPr>
          <p:cNvPr id="33" name="Text 29">
            <a:extLst>
              <a:ext uri="{FF2B5EF4-FFF2-40B4-BE49-F238E27FC236}">
                <a16:creationId xmlns:a16="http://schemas.microsoft.com/office/drawing/2014/main" id="{F7F11799-46F4-4C0D-848D-E3FD1B35B982}"/>
              </a:ext>
            </a:extLst>
          </p:cNvPr>
          <p:cNvSpPr>
            <a:spLocks noGrp="1"/>
          </p:cNvSpPr>
          <p:nvPr/>
        </p:nvSpPr>
        <p:spPr>
          <a:xfrm>
            <a:off x="7486650" y="2419350"/>
            <a:ext cx="1066800" cy="285750"/>
          </a:xfrm>
          <a:prstGeom prst="rect">
            <a:avLst/>
          </a:prstGeom>
          <a:noFill/>
        </p:spPr>
        <p:txBody>
          <a:bodyPr wrap="square" lIns="0" tIns="0" rIns="0" bIns="0" anchor="ctr">
            <a:noAutofit/>
          </a:bodyPr>
          <a:lstStyle/>
          <a:p>
            <a:pPr marL="0" indent="0" algn="ctr">
              <a:buNone/>
              <a:defRPr sz="1600" b="1">
                <a:solidFill>
                  <a:srgbClr val="F7FAFC"/>
                </a:solidFill>
                <a:latin typeface="Aptos"/>
                <a:ea typeface="Aptos"/>
                <a:cs typeface="Aptos"/>
              </a:defRPr>
            </a:pPr>
            <a:r>
              <a:rPr sz="1600" b="1">
                <a:solidFill>
                  <a:srgbClr val="F7FAFC"/>
                </a:solidFill>
                <a:latin typeface="Aptos"/>
                <a:ea typeface="Aptos"/>
                <a:cs typeface="Aptos"/>
              </a:rPr>
              <a:t>Dashboard</a:t>
            </a:r>
            <a:endParaRPr sz="850"/>
          </a:p>
        </p:txBody>
      </p:sp>
      <p:sp>
        <p:nvSpPr>
          <p:cNvPr id="34" name="Text 30">
            <a:extLst>
              <a:ext uri="{FF2B5EF4-FFF2-40B4-BE49-F238E27FC236}">
                <a16:creationId xmlns:a16="http://schemas.microsoft.com/office/drawing/2014/main" id="{BE280AF5-5D9F-4601-907F-2E70DF095CA6}"/>
              </a:ext>
            </a:extLst>
          </p:cNvPr>
          <p:cNvSpPr>
            <a:spLocks noGrp="1"/>
          </p:cNvSpPr>
          <p:nvPr/>
        </p:nvSpPr>
        <p:spPr>
          <a:xfrm>
            <a:off x="7486650" y="2743200"/>
            <a:ext cx="1066800" cy="419100"/>
          </a:xfrm>
          <a:prstGeom prst="rect">
            <a:avLst/>
          </a:prstGeom>
          <a:noFill/>
        </p:spPr>
        <p:txBody>
          <a:bodyPr wrap="square" lIns="0" tIns="0" rIns="0" bIns="0" anchor="ctr">
            <a:noAutofit/>
          </a:bodyPr>
          <a:lstStyle/>
          <a:p>
            <a:pPr marL="0" indent="0" algn="ctr">
              <a:lnSpc>
                <a:spcPct val="104000"/>
              </a:lnSpc>
              <a:buNone/>
              <a:defRPr sz="1600" b="0">
                <a:solidFill>
                  <a:srgbClr val="BBC6D4"/>
                </a:solidFill>
                <a:latin typeface="Aptos"/>
                <a:ea typeface="Aptos"/>
                <a:cs typeface="Aptos"/>
              </a:defRPr>
            </a:pPr>
            <a:r>
              <a:rPr sz="1600" b="0">
                <a:solidFill>
                  <a:srgbClr val="BBC6D4"/>
                </a:solidFill>
                <a:latin typeface="Aptos"/>
                <a:ea typeface="Aptos"/>
                <a:cs typeface="Aptos"/>
              </a:rPr>
              <a:t>Evidence</a:t>
            </a:r>
            <a:endParaRPr sz="750"/>
          </a:p>
        </p:txBody>
      </p:sp>
      <p:sp>
        <p:nvSpPr>
          <p:cNvPr id="35" name="Text 31">
            <a:extLst>
              <a:ext uri="{FF2B5EF4-FFF2-40B4-BE49-F238E27FC236}">
                <a16:creationId xmlns:a16="http://schemas.microsoft.com/office/drawing/2014/main" id="{5FB883D6-1EF8-4C2F-87D1-81D5F7E5928A}"/>
              </a:ext>
            </a:extLst>
          </p:cNvPr>
          <p:cNvSpPr>
            <a:spLocks noGrp="1"/>
          </p:cNvSpPr>
          <p:nvPr/>
        </p:nvSpPr>
        <p:spPr>
          <a:xfrm>
            <a:off x="609600" y="3657600"/>
            <a:ext cx="3619500" cy="274320"/>
          </a:xfrm>
          <a:prstGeom prst="rect">
            <a:avLst/>
          </a:prstGeom>
          <a:noFill/>
        </p:spPr>
        <p:txBody>
          <a:bodyPr wrap="square" lIns="0" tIns="0" rIns="0" bIns="0" anchor="ctr">
            <a:noAutofit/>
          </a:bodyPr>
          <a:lstStyle/>
          <a:p>
            <a:pPr marL="0" indent="0" algn="l">
              <a:buNone/>
              <a:defRPr sz="1800" b="1">
                <a:solidFill>
                  <a:srgbClr val="37E6A6"/>
                </a:solidFill>
                <a:latin typeface="Aptos"/>
                <a:ea typeface="Aptos"/>
                <a:cs typeface="Aptos"/>
              </a:defRPr>
            </a:pPr>
            <a:r>
              <a:rPr lang="en-US" b="1" spc="1" dirty="0">
                <a:solidFill>
                  <a:srgbClr val="37E6A6"/>
                </a:solidFill>
                <a:latin typeface="Aptos"/>
                <a:ea typeface="Aptos"/>
                <a:cs typeface="Aptos"/>
              </a:rPr>
              <a:t>CONTINUITY</a:t>
            </a:r>
            <a:endParaRPr sz="650" dirty="0"/>
          </a:p>
        </p:txBody>
      </p:sp>
      <p:sp>
        <p:nvSpPr>
          <p:cNvPr id="36" name="Text 32">
            <a:extLst>
              <a:ext uri="{FF2B5EF4-FFF2-40B4-BE49-F238E27FC236}">
                <a16:creationId xmlns:a16="http://schemas.microsoft.com/office/drawing/2014/main" id="{29A2DFC5-C341-45A9-A8D1-FAEBEB811BF6}"/>
              </a:ext>
            </a:extLst>
          </p:cNvPr>
          <p:cNvSpPr>
            <a:spLocks noGrp="1"/>
          </p:cNvSpPr>
          <p:nvPr/>
        </p:nvSpPr>
        <p:spPr>
          <a:xfrm>
            <a:off x="609600" y="4072890"/>
            <a:ext cx="3619500" cy="495300"/>
          </a:xfrm>
          <a:prstGeom prst="rect">
            <a:avLst/>
          </a:prstGeom>
          <a:noFill/>
        </p:spPr>
        <p:txBody>
          <a:bodyPr wrap="square" lIns="0" tIns="0" rIns="0" bIns="0" anchor="ctr">
            <a:noAutofit/>
          </a:bodyPr>
          <a:lstStyle/>
          <a:p>
            <a:pPr marL="0" indent="0" algn="l">
              <a:lnSpc>
                <a:spcPct val="112000"/>
              </a:lnSpc>
              <a:buNone/>
              <a:defRPr sz="1600" b="0">
                <a:solidFill>
                  <a:srgbClr val="BBC6D4"/>
                </a:solidFill>
                <a:latin typeface="Aptos"/>
                <a:ea typeface="Aptos"/>
                <a:cs typeface="Aptos"/>
              </a:defRPr>
            </a:pPr>
            <a:r>
              <a:rPr sz="1600" b="0" dirty="0">
                <a:solidFill>
                  <a:srgbClr val="BBC6D4"/>
                </a:solidFill>
                <a:latin typeface="Aptos"/>
                <a:ea typeface="Aptos"/>
                <a:cs typeface="Aptos"/>
              </a:rPr>
              <a:t>Local buffering protects records during interruptions.</a:t>
            </a:r>
            <a:endParaRPr sz="850" dirty="0"/>
          </a:p>
        </p:txBody>
      </p:sp>
      <p:sp>
        <p:nvSpPr>
          <p:cNvPr id="37" name="Text 33">
            <a:extLst>
              <a:ext uri="{FF2B5EF4-FFF2-40B4-BE49-F238E27FC236}">
                <a16:creationId xmlns:a16="http://schemas.microsoft.com/office/drawing/2014/main" id="{C11AB423-21AD-45A0-BAC8-E6C3DFB795ED}"/>
              </a:ext>
            </a:extLst>
          </p:cNvPr>
          <p:cNvSpPr>
            <a:spLocks noGrp="1"/>
          </p:cNvSpPr>
          <p:nvPr/>
        </p:nvSpPr>
        <p:spPr>
          <a:xfrm>
            <a:off x="4781550" y="3657600"/>
            <a:ext cx="3752850" cy="274320"/>
          </a:xfrm>
          <a:prstGeom prst="rect">
            <a:avLst/>
          </a:prstGeom>
          <a:noFill/>
        </p:spPr>
        <p:txBody>
          <a:bodyPr wrap="square" lIns="0" tIns="0" rIns="0" bIns="0" anchor="ctr">
            <a:noAutofit/>
          </a:bodyPr>
          <a:lstStyle/>
          <a:p>
            <a:pPr marL="0" indent="0" algn="l">
              <a:buNone/>
              <a:defRPr sz="1800" b="1">
                <a:solidFill>
                  <a:srgbClr val="37E6A6"/>
                </a:solidFill>
                <a:latin typeface="Aptos"/>
                <a:ea typeface="Aptos"/>
                <a:cs typeface="Aptos"/>
              </a:defRPr>
            </a:pPr>
            <a:r>
              <a:rPr sz="1800" b="1" spc="1" dirty="0">
                <a:solidFill>
                  <a:srgbClr val="37E6A6"/>
                </a:solidFill>
                <a:latin typeface="Aptos"/>
                <a:ea typeface="Aptos"/>
                <a:cs typeface="Aptos"/>
              </a:rPr>
              <a:t>TRACEABILITY</a:t>
            </a:r>
            <a:endParaRPr sz="650" dirty="0"/>
          </a:p>
        </p:txBody>
      </p:sp>
      <p:sp>
        <p:nvSpPr>
          <p:cNvPr id="38" name="Text 34">
            <a:extLst>
              <a:ext uri="{FF2B5EF4-FFF2-40B4-BE49-F238E27FC236}">
                <a16:creationId xmlns:a16="http://schemas.microsoft.com/office/drawing/2014/main" id="{E66F9234-65D3-4818-A881-C07C9E0702BB}"/>
              </a:ext>
            </a:extLst>
          </p:cNvPr>
          <p:cNvSpPr>
            <a:spLocks noGrp="1"/>
          </p:cNvSpPr>
          <p:nvPr/>
        </p:nvSpPr>
        <p:spPr>
          <a:xfrm>
            <a:off x="4781550" y="4057650"/>
            <a:ext cx="3752850" cy="495300"/>
          </a:xfrm>
          <a:prstGeom prst="rect">
            <a:avLst/>
          </a:prstGeom>
          <a:noFill/>
        </p:spPr>
        <p:txBody>
          <a:bodyPr wrap="square" lIns="0" tIns="0" rIns="0" bIns="0" anchor="ctr">
            <a:noAutofit/>
          </a:bodyPr>
          <a:lstStyle/>
          <a:p>
            <a:pPr marL="0" indent="0" algn="l">
              <a:lnSpc>
                <a:spcPct val="112000"/>
              </a:lnSpc>
              <a:buNone/>
              <a:defRPr sz="1600" b="0">
                <a:solidFill>
                  <a:srgbClr val="BBC6D4"/>
                </a:solidFill>
                <a:latin typeface="Aptos"/>
                <a:ea typeface="Aptos"/>
                <a:cs typeface="Aptos"/>
              </a:defRPr>
            </a:pPr>
            <a:r>
              <a:rPr sz="1600" b="0" dirty="0">
                <a:solidFill>
                  <a:srgbClr val="BBC6D4"/>
                </a:solidFill>
                <a:latin typeface="Aptos"/>
                <a:ea typeface="Aptos"/>
                <a:cs typeface="Aptos"/>
              </a:rPr>
              <a:t>Every result stays linked to trip, location, and model.</a:t>
            </a:r>
            <a:endParaRPr sz="850" dirty="0"/>
          </a:p>
        </p:txBody>
      </p:sp>
      <p:sp>
        <p:nvSpPr>
          <p:cNvPr id="39" name="Shape 35">
            <a:extLst>
              <a:ext uri="{FF2B5EF4-FFF2-40B4-BE49-F238E27FC236}">
                <a16:creationId xmlns:a16="http://schemas.microsoft.com/office/drawing/2014/main" id="{D3905C29-2838-4821-922A-1B395A7203BD}"/>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40" name="Shape 36">
            <a:extLst>
              <a:ext uri="{FF2B5EF4-FFF2-40B4-BE49-F238E27FC236}">
                <a16:creationId xmlns:a16="http://schemas.microsoft.com/office/drawing/2014/main" id="{02E0E675-1EBD-4A58-90C4-CA7B26D5576D}"/>
              </a:ext>
            </a:extLst>
          </p:cNvPr>
          <p:cNvSpPr>
            <a:spLocks noGrp="1"/>
          </p:cNvSpPr>
          <p:nvPr/>
        </p:nvSpPr>
        <p:spPr>
          <a:xfrm>
            <a:off x="614363" y="4762976"/>
            <a:ext cx="7915275" cy="7144"/>
          </a:xfrm>
          <a:prstGeom prst="rect">
            <a:avLst/>
          </a:prstGeom>
          <a:solidFill>
            <a:srgbClr val="FFFFFF"/>
          </a:solidFill>
        </p:spPr>
        <p:txBody>
          <a:bodyPr/>
          <a:lstStyle/>
          <a:p>
            <a:endParaRPr lang="en-US"/>
          </a:p>
        </p:txBody>
      </p:sp>
      <p:sp>
        <p:nvSpPr>
          <p:cNvPr id="41" name="Text 37">
            <a:extLst>
              <a:ext uri="{FF2B5EF4-FFF2-40B4-BE49-F238E27FC236}">
                <a16:creationId xmlns:a16="http://schemas.microsoft.com/office/drawing/2014/main" id="{167D097D-AB3E-4871-8ADF-1723ADAF1080}"/>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dirty="0">
                <a:solidFill>
                  <a:srgbClr val="8FA0B3"/>
                </a:solidFill>
                <a:latin typeface="Aptos"/>
                <a:ea typeface="Aptos"/>
                <a:cs typeface="Aptos"/>
              </a:rPr>
              <a:t>RoadPulse-AI · Change The Future</a:t>
            </a:r>
            <a:endParaRPr sz="600" dirty="0"/>
          </a:p>
        </p:txBody>
      </p:sp>
      <p:sp>
        <p:nvSpPr>
          <p:cNvPr id="42" name="Text 38">
            <a:extLst>
              <a:ext uri="{FF2B5EF4-FFF2-40B4-BE49-F238E27FC236}">
                <a16:creationId xmlns:a16="http://schemas.microsoft.com/office/drawing/2014/main" id="{B8A62237-FD70-43D6-9C99-D85269BEADEA}"/>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05 / 10</a:t>
            </a:r>
            <a:endParaRPr sz="600"/>
          </a:p>
        </p:txBody>
      </p:sp>
    </p:spTree>
    <p:extLst>
      <p:ext uri="{BB962C8B-B14F-4D97-AF65-F5344CB8AC3E}">
        <p14:creationId xmlns:p14="http://schemas.microsoft.com/office/powerpoint/2010/main" val="692892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80D"/>
        </a:solidFill>
        <a:effectLst/>
      </p:bgPr>
    </p:bg>
    <p:spTree>
      <p:nvGrpSpPr>
        <p:cNvPr id="1" name=""/>
        <p:cNvGrpSpPr/>
        <p:nvPr/>
      </p:nvGrpSpPr>
      <p:grpSpPr>
        <a:xfrm>
          <a:off x="0" y="0"/>
          <a:ext cx="0" cy="0"/>
          <a:chOff x="0" y="0"/>
          <a:chExt cx="0" cy="0"/>
        </a:xfrm>
      </p:grpSpPr>
      <p:pic>
        <p:nvPicPr>
          <p:cNvPr id="30" name="Image 0"/>
          <p:cNvPicPr>
            <a:picLocks noChangeAspect="1"/>
          </p:cNvPicPr>
          <p:nvPr/>
        </p:nvPicPr>
        <p:blipFill>
          <a:blip r:embed="rId3"/>
          <a:srcRect l="21875" r="21875"/>
          <a:stretch>
            <a:fillRect/>
          </a:stretch>
        </p:blipFill>
        <p:spPr>
          <a:xfrm>
            <a:off x="0" y="0"/>
            <a:ext cx="9525" cy="9525"/>
          </a:xfrm>
          <a:prstGeom prst="rect">
            <a:avLst/>
          </a:prstGeom>
        </p:spPr>
      </p:pic>
      <p:sp>
        <p:nvSpPr>
          <p:cNvPr id="4" name="Text 0">
            <a:extLst>
              <a:ext uri="{FF2B5EF4-FFF2-40B4-BE49-F238E27FC236}">
                <a16:creationId xmlns:a16="http://schemas.microsoft.com/office/drawing/2014/main" id="{0CEBE58E-E0A2-40CD-8963-D0CD801FFD54}"/>
              </a:ext>
            </a:extLst>
          </p:cNvPr>
          <p:cNvSpPr>
            <a:spLocks noGrp="1"/>
          </p:cNvSpPr>
          <p:nvPr/>
        </p:nvSpPr>
        <p:spPr>
          <a:xfrm>
            <a:off x="609600" y="438150"/>
            <a:ext cx="792480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05 / INTELLIGENCE</a:t>
            </a:r>
            <a:endParaRPr sz="2000" dirty="0"/>
          </a:p>
        </p:txBody>
      </p:sp>
      <p:sp>
        <p:nvSpPr>
          <p:cNvPr id="5" name="Text 1">
            <a:extLst>
              <a:ext uri="{FF2B5EF4-FFF2-40B4-BE49-F238E27FC236}">
                <a16:creationId xmlns:a16="http://schemas.microsoft.com/office/drawing/2014/main" id="{7CB2B58D-A0AE-4C06-A193-AF96C3D13F7D}"/>
              </a:ext>
            </a:extLst>
          </p:cNvPr>
          <p:cNvSpPr>
            <a:spLocks noGrp="1"/>
          </p:cNvSpPr>
          <p:nvPr/>
        </p:nvSpPr>
        <p:spPr>
          <a:xfrm>
            <a:off x="609600" y="723900"/>
            <a:ext cx="7924800" cy="476250"/>
          </a:xfrm>
          <a:prstGeom prst="rect">
            <a:avLst/>
          </a:prstGeom>
          <a:noFill/>
        </p:spPr>
        <p:txBody>
          <a:bodyPr wrap="square" lIns="0" tIns="0" rIns="0" bIns="0" anchor="ctr">
            <a:noAutofit/>
          </a:bodyPr>
          <a:lstStyle/>
          <a:p>
            <a:pPr marL="0" indent="0" algn="l">
              <a:buNone/>
              <a:defRPr sz="2600" b="1">
                <a:solidFill>
                  <a:srgbClr val="F7FAFC"/>
                </a:solidFill>
                <a:latin typeface="Aptos"/>
                <a:ea typeface="Aptos"/>
                <a:cs typeface="Aptos"/>
              </a:defRPr>
            </a:pPr>
            <a:r>
              <a:rPr sz="2400" b="1" dirty="0">
                <a:solidFill>
                  <a:srgbClr val="F7FAFC"/>
                </a:solidFill>
                <a:latin typeface="Aptos"/>
                <a:ea typeface="Aptos"/>
                <a:cs typeface="Aptos"/>
              </a:rPr>
              <a:t>AI explains the event — not just the reading</a:t>
            </a:r>
            <a:endParaRPr sz="2400" dirty="0"/>
          </a:p>
        </p:txBody>
      </p:sp>
      <p:sp>
        <p:nvSpPr>
          <p:cNvPr id="6" name="Text 2">
            <a:extLst>
              <a:ext uri="{FF2B5EF4-FFF2-40B4-BE49-F238E27FC236}">
                <a16:creationId xmlns:a16="http://schemas.microsoft.com/office/drawing/2014/main" id="{882A83C6-D953-49AE-8D40-37C9C516AB41}"/>
              </a:ext>
            </a:extLst>
          </p:cNvPr>
          <p:cNvSpPr>
            <a:spLocks noGrp="1"/>
          </p:cNvSpPr>
          <p:nvPr/>
        </p:nvSpPr>
        <p:spPr>
          <a:xfrm>
            <a:off x="609600" y="1219200"/>
            <a:ext cx="7924800" cy="40005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a:solidFill>
                  <a:srgbClr val="BBC6D4"/>
                </a:solidFill>
                <a:latin typeface="Aptos"/>
                <a:ea typeface="Aptos"/>
                <a:cs typeface="Aptos"/>
              </a:rPr>
              <a:t>Features, context, and repeated evidence produce an operational classification.</a:t>
            </a:r>
            <a:endParaRPr sz="850"/>
          </a:p>
        </p:txBody>
      </p:sp>
      <p:sp>
        <p:nvSpPr>
          <p:cNvPr id="7" name="Text 3">
            <a:extLst>
              <a:ext uri="{FF2B5EF4-FFF2-40B4-BE49-F238E27FC236}">
                <a16:creationId xmlns:a16="http://schemas.microsoft.com/office/drawing/2014/main" id="{8ED20DC6-7F73-489E-A9D7-E81373A41389}"/>
              </a:ext>
            </a:extLst>
          </p:cNvPr>
          <p:cNvSpPr>
            <a:spLocks noGrp="1"/>
          </p:cNvSpPr>
          <p:nvPr/>
        </p:nvSpPr>
        <p:spPr>
          <a:xfrm>
            <a:off x="609599" y="1710547"/>
            <a:ext cx="3333749" cy="817531"/>
          </a:xfrm>
          <a:prstGeom prst="rect">
            <a:avLst/>
          </a:prstGeom>
          <a:noFill/>
          <a:ln w="9525">
            <a:solidFill>
              <a:srgbClr val="33404E"/>
            </a:solidFill>
            <a:prstDash val="solid"/>
          </a:ln>
        </p:spPr>
        <p:txBody>
          <a:bodyPr wrap="square" lIns="0" tIns="19050" rIns="76200" bIns="28575" anchor="ctr">
            <a:spAutoFit/>
          </a:bodyPr>
          <a:lstStyle/>
          <a:p>
            <a:pPr algn="l">
              <a:defRPr>
                <a:latin typeface="Aptos"/>
                <a:ea typeface="Aptos"/>
                <a:cs typeface="Aptos"/>
              </a:defRPr>
            </a:pPr>
            <a:r>
              <a:rPr lang="en-US" sz="1600" b="1" dirty="0">
                <a:solidFill>
                  <a:srgbClr val="00C8F8"/>
                </a:solidFill>
                <a:latin typeface="Aptos"/>
                <a:ea typeface="Aptos"/>
                <a:cs typeface="Aptos"/>
              </a:rPr>
              <a:t> </a:t>
            </a:r>
            <a:r>
              <a:rPr sz="1600" b="1" dirty="0">
                <a:solidFill>
                  <a:srgbClr val="00C8F8"/>
                </a:solidFill>
                <a:latin typeface="Aptos"/>
                <a:ea typeface="Aptos"/>
                <a:cs typeface="Aptos"/>
              </a:rPr>
              <a:t>01 · FEATURES</a:t>
            </a:r>
          </a:p>
          <a:p>
            <a:pPr algn="l">
              <a:defRPr>
                <a:latin typeface="Aptos"/>
                <a:ea typeface="Aptos"/>
                <a:cs typeface="Aptos"/>
              </a:defRPr>
            </a:pPr>
            <a:r>
              <a:rPr lang="en-US" sz="1800" b="1" dirty="0">
                <a:solidFill>
                  <a:srgbClr val="F7FAFC"/>
                </a:solidFill>
                <a:latin typeface="Aptos"/>
                <a:ea typeface="Aptos"/>
                <a:cs typeface="Aptos"/>
              </a:rPr>
              <a:t>      </a:t>
            </a:r>
            <a:r>
              <a:rPr sz="1800" b="1" dirty="0">
                <a:solidFill>
                  <a:srgbClr val="F7FAFC"/>
                </a:solidFill>
                <a:latin typeface="Aptos"/>
                <a:ea typeface="Aptos"/>
                <a:cs typeface="Aptos"/>
              </a:rPr>
              <a:t>Extract the signal</a:t>
            </a:r>
          </a:p>
          <a:p>
            <a:pPr algn="l">
              <a:defRPr>
                <a:latin typeface="Aptos"/>
                <a:ea typeface="Aptos"/>
                <a:cs typeface="Aptos"/>
              </a:defRPr>
            </a:pPr>
            <a:r>
              <a:rPr lang="en-US" sz="1600" dirty="0">
                <a:solidFill>
                  <a:srgbClr val="BBC6D4"/>
                </a:solidFill>
                <a:latin typeface="Aptos"/>
                <a:ea typeface="Aptos"/>
                <a:cs typeface="Aptos"/>
              </a:rPr>
              <a:t>             </a:t>
            </a:r>
            <a:r>
              <a:rPr sz="1600" dirty="0">
                <a:solidFill>
                  <a:srgbClr val="BBC6D4"/>
                </a:solidFill>
                <a:latin typeface="Aptos"/>
                <a:ea typeface="Aptos"/>
                <a:cs typeface="Aptos"/>
              </a:rPr>
              <a:t>Motion · speed · GPS · timing</a:t>
            </a:r>
          </a:p>
        </p:txBody>
      </p:sp>
      <p:sp>
        <p:nvSpPr>
          <p:cNvPr id="8" name="Text 4">
            <a:extLst>
              <a:ext uri="{FF2B5EF4-FFF2-40B4-BE49-F238E27FC236}">
                <a16:creationId xmlns:a16="http://schemas.microsoft.com/office/drawing/2014/main" id="{55B729CD-6EA9-450C-A93E-818122E63A7A}"/>
              </a:ext>
            </a:extLst>
          </p:cNvPr>
          <p:cNvSpPr>
            <a:spLocks noGrp="1"/>
          </p:cNvSpPr>
          <p:nvPr/>
        </p:nvSpPr>
        <p:spPr>
          <a:xfrm>
            <a:off x="0" y="0"/>
            <a:ext cx="9525" cy="2468880"/>
          </a:xfrm>
          <a:prstGeom prst="rect">
            <a:avLst/>
          </a:prstGeom>
          <a:noFill/>
          <a:ln w="0">
            <a:noFill/>
            <a:prstDash val="solid"/>
          </a:ln>
        </p:spPr>
        <p:txBody>
          <a:bodyPr wrap="square" lIns="0" tIns="0" rIns="0" bIns="0" anchor="t">
            <a:spAutoFit/>
          </a:bodyPr>
          <a:lstStyle/>
          <a:p>
            <a:pPr marL="0" indent="0" algn="l">
              <a:buNone/>
            </a:pPr>
            <a:endParaRPr sz="900"/>
          </a:p>
        </p:txBody>
      </p:sp>
      <p:sp>
        <p:nvSpPr>
          <p:cNvPr id="9" name="Text 5">
            <a:extLst>
              <a:ext uri="{FF2B5EF4-FFF2-40B4-BE49-F238E27FC236}">
                <a16:creationId xmlns:a16="http://schemas.microsoft.com/office/drawing/2014/main" id="{A20BEAD3-80FB-4A79-89EC-F3430FA4EF9C}"/>
              </a:ext>
            </a:extLst>
          </p:cNvPr>
          <p:cNvSpPr>
            <a:spLocks noGrp="1"/>
          </p:cNvSpPr>
          <p:nvPr/>
        </p:nvSpPr>
        <p:spPr>
          <a:xfrm>
            <a:off x="0" y="0"/>
            <a:ext cx="9525" cy="9612173"/>
          </a:xfrm>
          <a:prstGeom prst="rect">
            <a:avLst/>
          </a:prstGeom>
          <a:noFill/>
          <a:ln w="0">
            <a:noFill/>
            <a:prstDash val="solid"/>
          </a:ln>
        </p:spPr>
        <p:txBody>
          <a:bodyPr wrap="square" lIns="0" tIns="0" rIns="0" bIns="0" anchor="t">
            <a:spAutoFit/>
          </a:bodyPr>
          <a:lstStyle/>
          <a:p>
            <a:pPr marL="0" indent="0" algn="l">
              <a:lnSpc>
                <a:spcPct val="108000"/>
              </a:lnSpc>
              <a:buNone/>
            </a:pPr>
            <a:endParaRPr sz="800"/>
          </a:p>
        </p:txBody>
      </p:sp>
      <p:sp>
        <p:nvSpPr>
          <p:cNvPr id="10" name="Text 6">
            <a:extLst>
              <a:ext uri="{FF2B5EF4-FFF2-40B4-BE49-F238E27FC236}">
                <a16:creationId xmlns:a16="http://schemas.microsoft.com/office/drawing/2014/main" id="{D2489220-5F8C-47B6-8F5C-D269A5055637}"/>
              </a:ext>
            </a:extLst>
          </p:cNvPr>
          <p:cNvSpPr>
            <a:spLocks noGrp="1"/>
          </p:cNvSpPr>
          <p:nvPr/>
        </p:nvSpPr>
        <p:spPr>
          <a:xfrm>
            <a:off x="609600" y="2586847"/>
            <a:ext cx="3333750" cy="817531"/>
          </a:xfrm>
          <a:prstGeom prst="rect">
            <a:avLst/>
          </a:prstGeom>
          <a:noFill/>
          <a:ln w="9525">
            <a:solidFill>
              <a:srgbClr val="33404E"/>
            </a:solidFill>
            <a:prstDash val="solid"/>
          </a:ln>
        </p:spPr>
        <p:txBody>
          <a:bodyPr wrap="square" lIns="0" tIns="19050" rIns="76200" bIns="28575" anchor="ctr">
            <a:spAutoFit/>
          </a:bodyPr>
          <a:lstStyle/>
          <a:p>
            <a:pPr algn="l">
              <a:defRPr>
                <a:latin typeface="Aptos"/>
                <a:ea typeface="Aptos"/>
                <a:cs typeface="Aptos"/>
              </a:defRPr>
            </a:pPr>
            <a:r>
              <a:rPr lang="en-US" sz="1600" b="1" dirty="0">
                <a:solidFill>
                  <a:srgbClr val="00C8F8"/>
                </a:solidFill>
                <a:latin typeface="Aptos"/>
                <a:ea typeface="Aptos"/>
                <a:cs typeface="Aptos"/>
              </a:rPr>
              <a:t> </a:t>
            </a:r>
            <a:r>
              <a:rPr sz="1600" b="1" dirty="0">
                <a:solidFill>
                  <a:srgbClr val="00C8F8"/>
                </a:solidFill>
                <a:latin typeface="Aptos"/>
                <a:ea typeface="Aptos"/>
                <a:cs typeface="Aptos"/>
              </a:rPr>
              <a:t>02 · CONTEXT</a:t>
            </a:r>
          </a:p>
          <a:p>
            <a:pPr algn="l">
              <a:defRPr>
                <a:latin typeface="Aptos"/>
                <a:ea typeface="Aptos"/>
                <a:cs typeface="Aptos"/>
              </a:defRPr>
            </a:pPr>
            <a:r>
              <a:rPr lang="en-US" sz="1800" b="1" dirty="0">
                <a:solidFill>
                  <a:srgbClr val="F7FAFC"/>
                </a:solidFill>
                <a:latin typeface="Aptos"/>
                <a:ea typeface="Aptos"/>
                <a:cs typeface="Aptos"/>
              </a:rPr>
              <a:t>      </a:t>
            </a:r>
            <a:r>
              <a:rPr sz="1800" b="1" dirty="0">
                <a:solidFill>
                  <a:srgbClr val="F7FAFC"/>
                </a:solidFill>
                <a:latin typeface="Aptos"/>
                <a:ea typeface="Aptos"/>
                <a:cs typeface="Aptos"/>
              </a:rPr>
              <a:t>Read the pattern</a:t>
            </a:r>
          </a:p>
          <a:p>
            <a:pPr algn="l">
              <a:defRPr>
                <a:latin typeface="Aptos"/>
                <a:ea typeface="Aptos"/>
                <a:cs typeface="Aptos"/>
              </a:defRPr>
            </a:pPr>
            <a:r>
              <a:rPr lang="en-US" sz="1600" dirty="0">
                <a:solidFill>
                  <a:srgbClr val="BBC6D4"/>
                </a:solidFill>
                <a:latin typeface="Aptos"/>
                <a:ea typeface="Aptos"/>
                <a:cs typeface="Aptos"/>
              </a:rPr>
              <a:t>           Isolated vs. recurring conditions</a:t>
            </a:r>
            <a:endParaRPr sz="1600" dirty="0">
              <a:solidFill>
                <a:srgbClr val="BBC6D4"/>
              </a:solidFill>
              <a:latin typeface="Aptos"/>
              <a:ea typeface="Aptos"/>
              <a:cs typeface="Aptos"/>
            </a:endParaRPr>
          </a:p>
        </p:txBody>
      </p:sp>
      <p:sp>
        <p:nvSpPr>
          <p:cNvPr id="11" name="Text 7">
            <a:extLst>
              <a:ext uri="{FF2B5EF4-FFF2-40B4-BE49-F238E27FC236}">
                <a16:creationId xmlns:a16="http://schemas.microsoft.com/office/drawing/2014/main" id="{8EAD59EF-39E9-4390-A57A-61539AB015FE}"/>
              </a:ext>
            </a:extLst>
          </p:cNvPr>
          <p:cNvSpPr>
            <a:spLocks noGrp="1"/>
          </p:cNvSpPr>
          <p:nvPr/>
        </p:nvSpPr>
        <p:spPr>
          <a:xfrm>
            <a:off x="0" y="0"/>
            <a:ext cx="9525" cy="2194560"/>
          </a:xfrm>
          <a:prstGeom prst="rect">
            <a:avLst/>
          </a:prstGeom>
          <a:noFill/>
          <a:ln w="0">
            <a:noFill/>
            <a:prstDash val="solid"/>
          </a:ln>
        </p:spPr>
        <p:txBody>
          <a:bodyPr wrap="square" lIns="0" tIns="0" rIns="0" bIns="0" anchor="t">
            <a:spAutoFit/>
          </a:bodyPr>
          <a:lstStyle/>
          <a:p>
            <a:pPr marL="0" indent="0" algn="l">
              <a:buNone/>
            </a:pPr>
            <a:endParaRPr sz="900"/>
          </a:p>
        </p:txBody>
      </p:sp>
      <p:sp>
        <p:nvSpPr>
          <p:cNvPr id="12" name="Text 8">
            <a:extLst>
              <a:ext uri="{FF2B5EF4-FFF2-40B4-BE49-F238E27FC236}">
                <a16:creationId xmlns:a16="http://schemas.microsoft.com/office/drawing/2014/main" id="{36CDAAAD-5784-4E1D-9C67-DB35E14EF3CA}"/>
              </a:ext>
            </a:extLst>
          </p:cNvPr>
          <p:cNvSpPr>
            <a:spLocks noGrp="1"/>
          </p:cNvSpPr>
          <p:nvPr/>
        </p:nvSpPr>
        <p:spPr>
          <a:xfrm>
            <a:off x="0" y="0"/>
            <a:ext cx="9525" cy="11587277"/>
          </a:xfrm>
          <a:prstGeom prst="rect">
            <a:avLst/>
          </a:prstGeom>
          <a:noFill/>
          <a:ln w="0">
            <a:noFill/>
            <a:prstDash val="solid"/>
          </a:ln>
        </p:spPr>
        <p:txBody>
          <a:bodyPr wrap="square" lIns="0" tIns="0" rIns="0" bIns="0" anchor="t">
            <a:spAutoFit/>
          </a:bodyPr>
          <a:lstStyle/>
          <a:p>
            <a:pPr marL="0" indent="0" algn="l">
              <a:lnSpc>
                <a:spcPct val="108000"/>
              </a:lnSpc>
              <a:buNone/>
            </a:pPr>
            <a:endParaRPr sz="800"/>
          </a:p>
        </p:txBody>
      </p:sp>
      <p:sp>
        <p:nvSpPr>
          <p:cNvPr id="13" name="Text 9">
            <a:extLst>
              <a:ext uri="{FF2B5EF4-FFF2-40B4-BE49-F238E27FC236}">
                <a16:creationId xmlns:a16="http://schemas.microsoft.com/office/drawing/2014/main" id="{C3DE37A5-C1DF-4C8F-9173-BF4B47912797}"/>
              </a:ext>
            </a:extLst>
          </p:cNvPr>
          <p:cNvSpPr>
            <a:spLocks noGrp="1"/>
          </p:cNvSpPr>
          <p:nvPr/>
        </p:nvSpPr>
        <p:spPr>
          <a:xfrm>
            <a:off x="609600" y="3463147"/>
            <a:ext cx="3333750" cy="817531"/>
          </a:xfrm>
          <a:prstGeom prst="rect">
            <a:avLst/>
          </a:prstGeom>
          <a:noFill/>
          <a:ln w="9525">
            <a:solidFill>
              <a:srgbClr val="33404E"/>
            </a:solidFill>
            <a:prstDash val="solid"/>
          </a:ln>
        </p:spPr>
        <p:txBody>
          <a:bodyPr wrap="square" lIns="0" tIns="19050" rIns="76200" bIns="28575" anchor="ctr">
            <a:spAutoFit/>
          </a:bodyPr>
          <a:lstStyle/>
          <a:p>
            <a:pPr algn="l">
              <a:defRPr>
                <a:latin typeface="Aptos"/>
                <a:ea typeface="Aptos"/>
                <a:cs typeface="Aptos"/>
              </a:defRPr>
            </a:pPr>
            <a:r>
              <a:rPr lang="en-US" sz="1600" b="1" dirty="0">
                <a:solidFill>
                  <a:srgbClr val="00C8F8"/>
                </a:solidFill>
                <a:latin typeface="Aptos"/>
                <a:ea typeface="Aptos"/>
                <a:cs typeface="Aptos"/>
              </a:rPr>
              <a:t> </a:t>
            </a:r>
            <a:r>
              <a:rPr sz="1600" b="1" dirty="0">
                <a:solidFill>
                  <a:srgbClr val="00C8F8"/>
                </a:solidFill>
                <a:latin typeface="Aptos"/>
                <a:ea typeface="Aptos"/>
                <a:cs typeface="Aptos"/>
              </a:rPr>
              <a:t>03 · EVIDENCE</a:t>
            </a:r>
          </a:p>
          <a:p>
            <a:pPr algn="l">
              <a:defRPr>
                <a:latin typeface="Aptos"/>
                <a:ea typeface="Aptos"/>
                <a:cs typeface="Aptos"/>
              </a:defRPr>
            </a:pPr>
            <a:r>
              <a:rPr lang="en-US" sz="1800" b="1" dirty="0">
                <a:solidFill>
                  <a:srgbClr val="F7FAFC"/>
                </a:solidFill>
                <a:latin typeface="Aptos"/>
                <a:ea typeface="Aptos"/>
                <a:cs typeface="Aptos"/>
              </a:rPr>
              <a:t>    </a:t>
            </a:r>
            <a:r>
              <a:rPr sz="1800" b="1" dirty="0">
                <a:solidFill>
                  <a:srgbClr val="F7FAFC"/>
                </a:solidFill>
                <a:latin typeface="Aptos"/>
                <a:ea typeface="Aptos"/>
                <a:cs typeface="Aptos"/>
              </a:rPr>
              <a:t>Show the reasoning</a:t>
            </a:r>
          </a:p>
          <a:p>
            <a:pPr algn="l">
              <a:defRPr>
                <a:latin typeface="Aptos"/>
                <a:ea typeface="Aptos"/>
                <a:cs typeface="Aptos"/>
              </a:defRPr>
            </a:pPr>
            <a:r>
              <a:rPr lang="en-US" sz="1600" dirty="0">
                <a:solidFill>
                  <a:srgbClr val="BBC6D4"/>
                </a:solidFill>
                <a:latin typeface="Aptos"/>
                <a:ea typeface="Aptos"/>
                <a:cs typeface="Aptos"/>
              </a:rPr>
              <a:t>      </a:t>
            </a:r>
            <a:r>
              <a:rPr sz="1600" dirty="0">
                <a:solidFill>
                  <a:srgbClr val="BBC6D4"/>
                </a:solidFill>
                <a:latin typeface="Aptos"/>
                <a:ea typeface="Aptos"/>
                <a:cs typeface="Aptos"/>
              </a:rPr>
              <a:t>Confidence· explanation· memory</a:t>
            </a:r>
          </a:p>
        </p:txBody>
      </p:sp>
      <p:sp>
        <p:nvSpPr>
          <p:cNvPr id="14" name="Text 10">
            <a:extLst>
              <a:ext uri="{FF2B5EF4-FFF2-40B4-BE49-F238E27FC236}">
                <a16:creationId xmlns:a16="http://schemas.microsoft.com/office/drawing/2014/main" id="{731F8B87-57D8-40F8-91C5-7E2D611B0E81}"/>
              </a:ext>
            </a:extLst>
          </p:cNvPr>
          <p:cNvSpPr>
            <a:spLocks noGrp="1"/>
          </p:cNvSpPr>
          <p:nvPr/>
        </p:nvSpPr>
        <p:spPr>
          <a:xfrm>
            <a:off x="0" y="0"/>
            <a:ext cx="9525" cy="2468880"/>
          </a:xfrm>
          <a:prstGeom prst="rect">
            <a:avLst/>
          </a:prstGeom>
          <a:noFill/>
          <a:ln w="0">
            <a:noFill/>
            <a:prstDash val="solid"/>
          </a:ln>
        </p:spPr>
        <p:txBody>
          <a:bodyPr wrap="square" lIns="0" tIns="0" rIns="0" bIns="0" anchor="t">
            <a:spAutoFit/>
          </a:bodyPr>
          <a:lstStyle/>
          <a:p>
            <a:pPr marL="0" indent="0" algn="l">
              <a:buNone/>
            </a:pPr>
            <a:endParaRPr sz="900"/>
          </a:p>
        </p:txBody>
      </p:sp>
      <p:sp>
        <p:nvSpPr>
          <p:cNvPr id="15" name="Text 11">
            <a:extLst>
              <a:ext uri="{FF2B5EF4-FFF2-40B4-BE49-F238E27FC236}">
                <a16:creationId xmlns:a16="http://schemas.microsoft.com/office/drawing/2014/main" id="{F6C06C86-B288-42E5-A66F-5D3C7AA7CE2B}"/>
              </a:ext>
            </a:extLst>
          </p:cNvPr>
          <p:cNvSpPr>
            <a:spLocks noGrp="1"/>
          </p:cNvSpPr>
          <p:nvPr/>
        </p:nvSpPr>
        <p:spPr>
          <a:xfrm>
            <a:off x="0" y="0"/>
            <a:ext cx="9525" cy="9612173"/>
          </a:xfrm>
          <a:prstGeom prst="rect">
            <a:avLst/>
          </a:prstGeom>
          <a:noFill/>
          <a:ln w="0">
            <a:noFill/>
            <a:prstDash val="solid"/>
          </a:ln>
        </p:spPr>
        <p:txBody>
          <a:bodyPr wrap="square" lIns="0" tIns="0" rIns="0" bIns="0" anchor="t">
            <a:spAutoFit/>
          </a:bodyPr>
          <a:lstStyle/>
          <a:p>
            <a:pPr marL="0" indent="0" algn="l">
              <a:lnSpc>
                <a:spcPct val="108000"/>
              </a:lnSpc>
              <a:buNone/>
            </a:pPr>
            <a:endParaRPr sz="800"/>
          </a:p>
        </p:txBody>
      </p:sp>
      <p:sp>
        <p:nvSpPr>
          <p:cNvPr id="16" name="Text 12">
            <a:extLst>
              <a:ext uri="{FF2B5EF4-FFF2-40B4-BE49-F238E27FC236}">
                <a16:creationId xmlns:a16="http://schemas.microsoft.com/office/drawing/2014/main" id="{D3B289A6-4661-4AC2-8115-51172C4CC4F5}"/>
              </a:ext>
            </a:extLst>
          </p:cNvPr>
          <p:cNvSpPr>
            <a:spLocks noGrp="1"/>
          </p:cNvSpPr>
          <p:nvPr/>
        </p:nvSpPr>
        <p:spPr>
          <a:xfrm>
            <a:off x="4610100" y="1713712"/>
            <a:ext cx="3974890" cy="766424"/>
          </a:xfrm>
          <a:prstGeom prst="roundRect">
            <a:avLst>
              <a:gd name="adj" fmla="val 18919"/>
            </a:avLst>
          </a:prstGeom>
          <a:noFill/>
          <a:ln w="19050">
            <a:solidFill>
              <a:srgbClr val="FF6B64"/>
            </a:solidFill>
            <a:prstDash val="solid"/>
          </a:ln>
        </p:spPr>
        <p:txBody>
          <a:bodyPr wrap="square" lIns="152400" tIns="85725" rIns="133350" bIns="76200" anchor="ctr">
            <a:spAutoFit/>
          </a:bodyPr>
          <a:lstStyle/>
          <a:p>
            <a:pPr algn="l">
              <a:defRPr>
                <a:latin typeface="Aptos"/>
                <a:ea typeface="Aptos"/>
                <a:cs typeface="Aptos"/>
              </a:defRPr>
            </a:pPr>
            <a:r>
              <a:rPr sz="1800" b="1" dirty="0">
                <a:solidFill>
                  <a:srgbClr val="F7FAFC"/>
                </a:solidFill>
                <a:latin typeface="Aptos"/>
                <a:ea typeface="Aptos"/>
                <a:cs typeface="Aptos"/>
              </a:rPr>
              <a:t>Driver-related</a:t>
            </a:r>
          </a:p>
          <a:p>
            <a:pPr algn="l">
              <a:defRPr>
                <a:latin typeface="Aptos"/>
                <a:ea typeface="Aptos"/>
                <a:cs typeface="Aptos"/>
              </a:defRPr>
            </a:pPr>
            <a:r>
              <a:rPr lang="en-US" sz="1600" dirty="0">
                <a:solidFill>
                  <a:srgbClr val="BBC6D4"/>
                </a:solidFill>
                <a:latin typeface="Aptos"/>
                <a:ea typeface="Aptos"/>
                <a:cs typeface="Aptos"/>
              </a:rPr>
              <a:t>    </a:t>
            </a:r>
            <a:r>
              <a:rPr sz="1600" dirty="0">
                <a:solidFill>
                  <a:srgbClr val="BBC6D4"/>
                </a:solidFill>
                <a:latin typeface="Aptos"/>
                <a:ea typeface="Aptos"/>
                <a:cs typeface="Aptos"/>
              </a:rPr>
              <a:t>Likely caused by risky driving behavior.</a:t>
            </a:r>
          </a:p>
        </p:txBody>
      </p:sp>
      <p:sp>
        <p:nvSpPr>
          <p:cNvPr id="17" name="Text 13">
            <a:extLst>
              <a:ext uri="{FF2B5EF4-FFF2-40B4-BE49-F238E27FC236}">
                <a16:creationId xmlns:a16="http://schemas.microsoft.com/office/drawing/2014/main" id="{657E819C-2043-408D-8DE6-1AA8F03F1701}"/>
              </a:ext>
            </a:extLst>
          </p:cNvPr>
          <p:cNvSpPr>
            <a:spLocks noGrp="1"/>
          </p:cNvSpPr>
          <p:nvPr/>
        </p:nvSpPr>
        <p:spPr>
          <a:xfrm>
            <a:off x="0" y="0"/>
            <a:ext cx="9525" cy="4800600"/>
          </a:xfrm>
          <a:prstGeom prst="rect">
            <a:avLst/>
          </a:prstGeom>
          <a:noFill/>
          <a:ln w="0">
            <a:noFill/>
            <a:prstDash val="solid"/>
          </a:ln>
        </p:spPr>
        <p:txBody>
          <a:bodyPr wrap="square" lIns="0" tIns="0" rIns="0" bIns="0" anchor="t">
            <a:spAutoFit/>
          </a:bodyPr>
          <a:lstStyle/>
          <a:p>
            <a:pPr marL="0" indent="0" algn="l">
              <a:buNone/>
            </a:pPr>
            <a:endParaRPr sz="750"/>
          </a:p>
        </p:txBody>
      </p:sp>
      <p:sp>
        <p:nvSpPr>
          <p:cNvPr id="18" name="Text 14">
            <a:extLst>
              <a:ext uri="{FF2B5EF4-FFF2-40B4-BE49-F238E27FC236}">
                <a16:creationId xmlns:a16="http://schemas.microsoft.com/office/drawing/2014/main" id="{8FF08805-0E5D-4C3D-AC4C-1746C2064471}"/>
              </a:ext>
            </a:extLst>
          </p:cNvPr>
          <p:cNvSpPr>
            <a:spLocks noGrp="1"/>
          </p:cNvSpPr>
          <p:nvPr/>
        </p:nvSpPr>
        <p:spPr>
          <a:xfrm>
            <a:off x="4610100" y="2590012"/>
            <a:ext cx="3974890" cy="766424"/>
          </a:xfrm>
          <a:prstGeom prst="roundRect">
            <a:avLst>
              <a:gd name="adj" fmla="val 18919"/>
            </a:avLst>
          </a:prstGeom>
          <a:noFill/>
          <a:ln w="19050">
            <a:solidFill>
              <a:srgbClr val="F5A623"/>
            </a:solidFill>
            <a:prstDash val="solid"/>
          </a:ln>
        </p:spPr>
        <p:txBody>
          <a:bodyPr wrap="none" lIns="152400" tIns="85725" rIns="133350" bIns="76200" anchor="ctr">
            <a:spAutoFit/>
          </a:bodyPr>
          <a:lstStyle/>
          <a:p>
            <a:pPr algn="l">
              <a:defRPr>
                <a:latin typeface="Aptos"/>
                <a:ea typeface="Aptos"/>
                <a:cs typeface="Aptos"/>
              </a:defRPr>
            </a:pPr>
            <a:r>
              <a:rPr sz="1800" b="1" dirty="0">
                <a:solidFill>
                  <a:srgbClr val="F7FAFC"/>
                </a:solidFill>
                <a:latin typeface="Aptos"/>
                <a:ea typeface="Aptos"/>
                <a:cs typeface="Aptos"/>
              </a:rPr>
              <a:t>Road-related</a:t>
            </a:r>
          </a:p>
          <a:p>
            <a:pPr algn="l">
              <a:defRPr>
                <a:latin typeface="Aptos"/>
                <a:ea typeface="Aptos"/>
                <a:cs typeface="Aptos"/>
              </a:defRPr>
            </a:pPr>
            <a:r>
              <a:rPr lang="en-US" sz="1600" dirty="0">
                <a:solidFill>
                  <a:srgbClr val="BBC6D4"/>
                </a:solidFill>
                <a:latin typeface="Aptos"/>
                <a:ea typeface="Aptos"/>
                <a:cs typeface="Aptos"/>
              </a:rPr>
              <a:t>     </a:t>
            </a:r>
            <a:r>
              <a:rPr sz="1600" dirty="0">
                <a:solidFill>
                  <a:srgbClr val="BBC6D4"/>
                </a:solidFill>
                <a:latin typeface="Aptos"/>
                <a:ea typeface="Aptos"/>
                <a:cs typeface="Aptos"/>
              </a:rPr>
              <a:t>Supported by recurring road evidence.</a:t>
            </a:r>
          </a:p>
        </p:txBody>
      </p:sp>
      <p:sp>
        <p:nvSpPr>
          <p:cNvPr id="19" name="Text 15">
            <a:extLst>
              <a:ext uri="{FF2B5EF4-FFF2-40B4-BE49-F238E27FC236}">
                <a16:creationId xmlns:a16="http://schemas.microsoft.com/office/drawing/2014/main" id="{644DC6E7-20C1-4B19-B2DB-6F092E57C432}"/>
              </a:ext>
            </a:extLst>
          </p:cNvPr>
          <p:cNvSpPr>
            <a:spLocks noGrp="1"/>
          </p:cNvSpPr>
          <p:nvPr/>
        </p:nvSpPr>
        <p:spPr>
          <a:xfrm>
            <a:off x="0" y="0"/>
            <a:ext cx="9525" cy="5715000"/>
          </a:xfrm>
          <a:prstGeom prst="rect">
            <a:avLst/>
          </a:prstGeom>
          <a:noFill/>
          <a:ln w="0">
            <a:noFill/>
            <a:prstDash val="solid"/>
          </a:ln>
        </p:spPr>
        <p:txBody>
          <a:bodyPr wrap="square" lIns="0" tIns="0" rIns="0" bIns="0" anchor="t">
            <a:spAutoFit/>
          </a:bodyPr>
          <a:lstStyle/>
          <a:p>
            <a:pPr marL="0" indent="0" algn="l">
              <a:buNone/>
            </a:pPr>
            <a:endParaRPr sz="750"/>
          </a:p>
        </p:txBody>
      </p:sp>
      <p:sp>
        <p:nvSpPr>
          <p:cNvPr id="20" name="Text 16">
            <a:extLst>
              <a:ext uri="{FF2B5EF4-FFF2-40B4-BE49-F238E27FC236}">
                <a16:creationId xmlns:a16="http://schemas.microsoft.com/office/drawing/2014/main" id="{A79FC292-6863-4954-9847-71854A7A8E5E}"/>
              </a:ext>
            </a:extLst>
          </p:cNvPr>
          <p:cNvSpPr>
            <a:spLocks noGrp="1"/>
          </p:cNvSpPr>
          <p:nvPr/>
        </p:nvSpPr>
        <p:spPr>
          <a:xfrm>
            <a:off x="4610100" y="3466312"/>
            <a:ext cx="3974890" cy="766424"/>
          </a:xfrm>
          <a:prstGeom prst="roundRect">
            <a:avLst>
              <a:gd name="adj" fmla="val 18919"/>
            </a:avLst>
          </a:prstGeom>
          <a:noFill/>
          <a:ln w="19050">
            <a:solidFill>
              <a:srgbClr val="8FA0B3"/>
            </a:solidFill>
            <a:prstDash val="solid"/>
          </a:ln>
        </p:spPr>
        <p:txBody>
          <a:bodyPr wrap="square" lIns="152400" tIns="85725" rIns="133350" bIns="76200" anchor="ctr">
            <a:spAutoFit/>
          </a:bodyPr>
          <a:lstStyle/>
          <a:p>
            <a:pPr algn="l">
              <a:defRPr>
                <a:latin typeface="Aptos"/>
                <a:ea typeface="Aptos"/>
                <a:cs typeface="Aptos"/>
              </a:defRPr>
            </a:pPr>
            <a:r>
              <a:rPr sz="1800" b="1" dirty="0">
                <a:solidFill>
                  <a:srgbClr val="F7FAFC"/>
                </a:solidFill>
                <a:latin typeface="Aptos"/>
                <a:ea typeface="Aptos"/>
                <a:cs typeface="Aptos"/>
              </a:rPr>
              <a:t>Unresolved</a:t>
            </a:r>
          </a:p>
          <a:p>
            <a:pPr algn="l">
              <a:defRPr>
                <a:latin typeface="Aptos"/>
                <a:ea typeface="Aptos"/>
                <a:cs typeface="Aptos"/>
              </a:defRPr>
            </a:pPr>
            <a:r>
              <a:rPr lang="en-US" sz="1600" dirty="0">
                <a:solidFill>
                  <a:srgbClr val="BBC6D4"/>
                </a:solidFill>
                <a:latin typeface="Aptos"/>
                <a:ea typeface="Aptos"/>
                <a:cs typeface="Aptos"/>
              </a:rPr>
              <a:t>     </a:t>
            </a:r>
            <a:r>
              <a:rPr sz="1600" dirty="0">
                <a:solidFill>
                  <a:srgbClr val="BBC6D4"/>
                </a:solidFill>
                <a:latin typeface="Aptos"/>
                <a:ea typeface="Aptos"/>
                <a:cs typeface="Aptos"/>
              </a:rPr>
              <a:t>Not enough evidence for one cause.</a:t>
            </a:r>
          </a:p>
        </p:txBody>
      </p:sp>
      <p:sp>
        <p:nvSpPr>
          <p:cNvPr id="21" name="Text 17">
            <a:extLst>
              <a:ext uri="{FF2B5EF4-FFF2-40B4-BE49-F238E27FC236}">
                <a16:creationId xmlns:a16="http://schemas.microsoft.com/office/drawing/2014/main" id="{D697FB0A-85FC-494B-89C8-6D213236F31F}"/>
              </a:ext>
            </a:extLst>
          </p:cNvPr>
          <p:cNvSpPr>
            <a:spLocks noGrp="1"/>
          </p:cNvSpPr>
          <p:nvPr/>
        </p:nvSpPr>
        <p:spPr>
          <a:xfrm>
            <a:off x="0" y="0"/>
            <a:ext cx="9525" cy="5257800"/>
          </a:xfrm>
          <a:prstGeom prst="rect">
            <a:avLst/>
          </a:prstGeom>
          <a:noFill/>
          <a:ln w="0">
            <a:noFill/>
            <a:prstDash val="solid"/>
          </a:ln>
        </p:spPr>
        <p:txBody>
          <a:bodyPr wrap="square" lIns="0" tIns="0" rIns="0" bIns="0" anchor="t">
            <a:spAutoFit/>
          </a:bodyPr>
          <a:lstStyle/>
          <a:p>
            <a:pPr marL="0" indent="0" algn="l">
              <a:buNone/>
            </a:pPr>
            <a:endParaRPr sz="750"/>
          </a:p>
        </p:txBody>
      </p:sp>
      <p:sp>
        <p:nvSpPr>
          <p:cNvPr id="22" name="Shape 18">
            <a:extLst>
              <a:ext uri="{FF2B5EF4-FFF2-40B4-BE49-F238E27FC236}">
                <a16:creationId xmlns:a16="http://schemas.microsoft.com/office/drawing/2014/main" id="{008F38CC-DFE5-46D2-BAC7-EB4616425CC3}"/>
              </a:ext>
            </a:extLst>
          </p:cNvPr>
          <p:cNvSpPr>
            <a:spLocks noGrp="1"/>
          </p:cNvSpPr>
          <p:nvPr/>
        </p:nvSpPr>
        <p:spPr>
          <a:xfrm>
            <a:off x="609600" y="4324350"/>
            <a:ext cx="7975390" cy="323850"/>
          </a:xfrm>
          <a:prstGeom prst="rect">
            <a:avLst/>
          </a:prstGeom>
          <a:noFill/>
          <a:ln w="9525">
            <a:solidFill>
              <a:srgbClr val="37E6A6"/>
            </a:solidFill>
            <a:prstDash val="solid"/>
          </a:ln>
        </p:spPr>
        <p:txBody>
          <a:bodyPr/>
          <a:lstStyle/>
          <a:p>
            <a:endParaRPr lang="en-US"/>
          </a:p>
        </p:txBody>
      </p:sp>
      <p:sp>
        <p:nvSpPr>
          <p:cNvPr id="24" name="Text 20">
            <a:extLst>
              <a:ext uri="{FF2B5EF4-FFF2-40B4-BE49-F238E27FC236}">
                <a16:creationId xmlns:a16="http://schemas.microsoft.com/office/drawing/2014/main" id="{F2E46B4A-899E-464C-8E23-5826EFFA3EF3}"/>
              </a:ext>
            </a:extLst>
          </p:cNvPr>
          <p:cNvSpPr>
            <a:spLocks noGrp="1"/>
          </p:cNvSpPr>
          <p:nvPr/>
        </p:nvSpPr>
        <p:spPr>
          <a:xfrm>
            <a:off x="609601" y="4324350"/>
            <a:ext cx="7965864" cy="345948"/>
          </a:xfrm>
          <a:prstGeom prst="rect">
            <a:avLst/>
          </a:prstGeom>
          <a:noFill/>
        </p:spPr>
        <p:txBody>
          <a:bodyPr wrap="square" lIns="0" tIns="0" rIns="0" bIns="0" anchor="ctr">
            <a:noAutofit/>
          </a:bodyPr>
          <a:lstStyle/>
          <a:p>
            <a:pPr marL="0" indent="0" algn="l">
              <a:buNone/>
              <a:defRPr sz="1600" b="1">
                <a:solidFill>
                  <a:srgbClr val="37E6A6"/>
                </a:solidFill>
                <a:latin typeface="Aptos"/>
                <a:ea typeface="Aptos"/>
                <a:cs typeface="Aptos"/>
              </a:defRPr>
            </a:pPr>
            <a:r>
              <a:rPr lang="en-US" sz="1600" b="1" dirty="0">
                <a:solidFill>
                  <a:srgbClr val="37E6A6"/>
                </a:solidFill>
                <a:latin typeface="Aptos"/>
                <a:ea typeface="Aptos"/>
                <a:cs typeface="Aptos"/>
              </a:rPr>
              <a:t>                              </a:t>
            </a:r>
            <a:r>
              <a:rPr sz="1600" b="1" dirty="0">
                <a:solidFill>
                  <a:srgbClr val="37E6A6"/>
                </a:solidFill>
                <a:latin typeface="Aptos"/>
                <a:ea typeface="Aptos"/>
                <a:cs typeface="Aptos"/>
              </a:rPr>
              <a:t>AI supports the decision — human judgment remains final.</a:t>
            </a:r>
            <a:endParaRPr sz="800" dirty="0"/>
          </a:p>
        </p:txBody>
      </p:sp>
      <p:sp>
        <p:nvSpPr>
          <p:cNvPr id="25" name="Shape 21">
            <a:extLst>
              <a:ext uri="{FF2B5EF4-FFF2-40B4-BE49-F238E27FC236}">
                <a16:creationId xmlns:a16="http://schemas.microsoft.com/office/drawing/2014/main" id="{AF7F894A-5788-4B9F-8CF4-9183733A25CF}"/>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26" name="Shape 22">
            <a:extLst>
              <a:ext uri="{FF2B5EF4-FFF2-40B4-BE49-F238E27FC236}">
                <a16:creationId xmlns:a16="http://schemas.microsoft.com/office/drawing/2014/main" id="{2E976B7C-5081-4108-B8C1-E476B5BD5B46}"/>
              </a:ext>
            </a:extLst>
          </p:cNvPr>
          <p:cNvSpPr>
            <a:spLocks noGrp="1"/>
          </p:cNvSpPr>
          <p:nvPr/>
        </p:nvSpPr>
        <p:spPr>
          <a:xfrm>
            <a:off x="614363" y="4793456"/>
            <a:ext cx="7915275" cy="7144"/>
          </a:xfrm>
          <a:prstGeom prst="rect">
            <a:avLst/>
          </a:prstGeom>
          <a:solidFill>
            <a:srgbClr val="FFFFFF"/>
          </a:solidFill>
        </p:spPr>
        <p:txBody>
          <a:bodyPr/>
          <a:lstStyle/>
          <a:p>
            <a:endParaRPr lang="en-US"/>
          </a:p>
        </p:txBody>
      </p:sp>
      <p:sp>
        <p:nvSpPr>
          <p:cNvPr id="27" name="Text 23">
            <a:extLst>
              <a:ext uri="{FF2B5EF4-FFF2-40B4-BE49-F238E27FC236}">
                <a16:creationId xmlns:a16="http://schemas.microsoft.com/office/drawing/2014/main" id="{1E28D5AA-BA08-40F4-A3B1-7475700C1F07}"/>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28" name="Text 24">
            <a:extLst>
              <a:ext uri="{FF2B5EF4-FFF2-40B4-BE49-F238E27FC236}">
                <a16:creationId xmlns:a16="http://schemas.microsoft.com/office/drawing/2014/main" id="{09F117C7-9677-425E-A2A4-69B70162D085}"/>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06 / 10</a:t>
            </a:r>
            <a:endParaRPr sz="600"/>
          </a:p>
        </p:txBody>
      </p:sp>
    </p:spTree>
    <p:extLst>
      <p:ext uri="{BB962C8B-B14F-4D97-AF65-F5344CB8AC3E}">
        <p14:creationId xmlns:p14="http://schemas.microsoft.com/office/powerpoint/2010/main" val="28650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0"/>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C23FCACD-80E8-45CC-82F4-0663BF0B954C}"/>
              </a:ext>
            </a:extLst>
          </p:cNvPr>
          <p:cNvSpPr>
            <a:spLocks noGrp="1"/>
          </p:cNvSpPr>
          <p:nvPr/>
        </p:nvSpPr>
        <p:spPr>
          <a:xfrm>
            <a:off x="609600" y="361950"/>
            <a:ext cx="792480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06 / SUPERVISOR INTERFACE</a:t>
            </a:r>
            <a:endParaRPr sz="2000" dirty="0"/>
          </a:p>
        </p:txBody>
      </p:sp>
      <p:sp>
        <p:nvSpPr>
          <p:cNvPr id="5" name="Text 1">
            <a:extLst>
              <a:ext uri="{FF2B5EF4-FFF2-40B4-BE49-F238E27FC236}">
                <a16:creationId xmlns:a16="http://schemas.microsoft.com/office/drawing/2014/main" id="{265D4EAE-891D-4701-B407-3CCBB04B28DC}"/>
              </a:ext>
            </a:extLst>
          </p:cNvPr>
          <p:cNvSpPr>
            <a:spLocks noGrp="1"/>
          </p:cNvSpPr>
          <p:nvPr/>
        </p:nvSpPr>
        <p:spPr>
          <a:xfrm>
            <a:off x="518160" y="647700"/>
            <a:ext cx="7924800" cy="476250"/>
          </a:xfrm>
          <a:prstGeom prst="rect">
            <a:avLst/>
          </a:prstGeom>
          <a:noFill/>
        </p:spPr>
        <p:txBody>
          <a:bodyPr wrap="square" lIns="0" tIns="0" rIns="0" bIns="0" anchor="ctr">
            <a:noAutofit/>
          </a:bodyPr>
          <a:lstStyle/>
          <a:p>
            <a:pPr marL="0" indent="0" algn="l">
              <a:buNone/>
              <a:defRPr sz="2600" b="1">
                <a:solidFill>
                  <a:srgbClr val="F7FAFC"/>
                </a:solidFill>
                <a:latin typeface="Aptos"/>
                <a:ea typeface="Aptos"/>
                <a:cs typeface="Aptos"/>
              </a:defRPr>
            </a:pPr>
            <a:r>
              <a:rPr sz="2400" b="1" dirty="0">
                <a:solidFill>
                  <a:srgbClr val="F7FAFC"/>
                </a:solidFill>
                <a:latin typeface="Aptos"/>
                <a:ea typeface="Aptos"/>
                <a:cs typeface="Aptos"/>
              </a:rPr>
              <a:t>One dashboard. One operational picture.</a:t>
            </a:r>
            <a:endParaRPr sz="2400" dirty="0"/>
          </a:p>
        </p:txBody>
      </p:sp>
      <p:sp>
        <p:nvSpPr>
          <p:cNvPr id="6" name="Shape 2">
            <a:extLst>
              <a:ext uri="{FF2B5EF4-FFF2-40B4-BE49-F238E27FC236}">
                <a16:creationId xmlns:a16="http://schemas.microsoft.com/office/drawing/2014/main" id="{E8A876F1-4987-4B17-A86C-0DBD509162A0}"/>
              </a:ext>
            </a:extLst>
          </p:cNvPr>
          <p:cNvSpPr>
            <a:spLocks noGrp="1"/>
          </p:cNvSpPr>
          <p:nvPr/>
        </p:nvSpPr>
        <p:spPr>
          <a:xfrm>
            <a:off x="614363" y="1239488"/>
            <a:ext cx="5250656" cy="3000375"/>
          </a:xfrm>
          <a:prstGeom prst="rect">
            <a:avLst/>
          </a:prstGeom>
          <a:solidFill>
            <a:srgbClr val="0B1119"/>
          </a:solidFill>
        </p:spPr>
        <p:txBody>
          <a:bodyPr/>
          <a:lstStyle/>
          <a:p>
            <a:endParaRPr lang="en-US"/>
          </a:p>
        </p:txBody>
      </p:sp>
      <p:sp>
        <p:nvSpPr>
          <p:cNvPr id="7" name="Shape 3">
            <a:extLst>
              <a:ext uri="{FF2B5EF4-FFF2-40B4-BE49-F238E27FC236}">
                <a16:creationId xmlns:a16="http://schemas.microsoft.com/office/drawing/2014/main" id="{6DCB6BED-D7B2-44BD-B9E0-931D1C5C0D5B}"/>
              </a:ext>
            </a:extLst>
          </p:cNvPr>
          <p:cNvSpPr>
            <a:spLocks noGrp="1"/>
          </p:cNvSpPr>
          <p:nvPr/>
        </p:nvSpPr>
        <p:spPr>
          <a:xfrm>
            <a:off x="614362" y="1239487"/>
            <a:ext cx="5304280" cy="45719"/>
          </a:xfrm>
          <a:prstGeom prst="rect">
            <a:avLst/>
          </a:prstGeom>
          <a:solidFill>
            <a:srgbClr val="12CFFF"/>
          </a:solidFill>
        </p:spPr>
        <p:txBody>
          <a:bodyPr/>
          <a:lstStyle/>
          <a:p>
            <a:endParaRPr lang="en-US"/>
          </a:p>
        </p:txBody>
      </p:sp>
      <p:pic>
        <p:nvPicPr>
          <p:cNvPr id="29" name="Image 1"/>
          <p:cNvPicPr>
            <a:picLocks noChangeAspect="1"/>
          </p:cNvPicPr>
          <p:nvPr/>
        </p:nvPicPr>
        <p:blipFill>
          <a:blip r:embed="rId4"/>
          <a:stretch>
            <a:fillRect/>
          </a:stretch>
        </p:blipFill>
        <p:spPr>
          <a:xfrm>
            <a:off x="667987" y="1310830"/>
            <a:ext cx="5250655" cy="3184969"/>
          </a:xfrm>
          <a:prstGeom prst="rect">
            <a:avLst/>
          </a:prstGeom>
        </p:spPr>
      </p:pic>
      <p:sp>
        <p:nvSpPr>
          <p:cNvPr id="9" name="Text 4">
            <a:extLst>
              <a:ext uri="{FF2B5EF4-FFF2-40B4-BE49-F238E27FC236}">
                <a16:creationId xmlns:a16="http://schemas.microsoft.com/office/drawing/2014/main" id="{59B78591-F801-4580-AC13-D782C21401FA}"/>
              </a:ext>
            </a:extLst>
          </p:cNvPr>
          <p:cNvSpPr>
            <a:spLocks noGrp="1"/>
          </p:cNvSpPr>
          <p:nvPr/>
        </p:nvSpPr>
        <p:spPr>
          <a:xfrm>
            <a:off x="6240780" y="1209913"/>
            <a:ext cx="224790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Fleet Overview</a:t>
            </a:r>
            <a:endParaRPr sz="1600" dirty="0"/>
          </a:p>
        </p:txBody>
      </p:sp>
      <p:sp>
        <p:nvSpPr>
          <p:cNvPr id="10" name="Text 5">
            <a:extLst>
              <a:ext uri="{FF2B5EF4-FFF2-40B4-BE49-F238E27FC236}">
                <a16:creationId xmlns:a16="http://schemas.microsoft.com/office/drawing/2014/main" id="{95D92F8A-D9C0-4F7C-B094-634FB67CF571}"/>
              </a:ext>
            </a:extLst>
          </p:cNvPr>
          <p:cNvSpPr>
            <a:spLocks noGrp="1"/>
          </p:cNvSpPr>
          <p:nvPr/>
        </p:nvSpPr>
        <p:spPr>
          <a:xfrm>
            <a:off x="6233160" y="1504950"/>
            <a:ext cx="2811780" cy="452437"/>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500" b="0" dirty="0">
                <a:solidFill>
                  <a:srgbClr val="BBC6D4"/>
                </a:solidFill>
                <a:latin typeface="Aptos"/>
                <a:ea typeface="Aptos"/>
                <a:cs typeface="Aptos"/>
              </a:rPr>
              <a:t>Vehicles, trips, events, and connectivity.</a:t>
            </a:r>
            <a:endParaRPr sz="1500" dirty="0"/>
          </a:p>
        </p:txBody>
      </p:sp>
      <p:sp>
        <p:nvSpPr>
          <p:cNvPr id="11" name="Text 6">
            <a:extLst>
              <a:ext uri="{FF2B5EF4-FFF2-40B4-BE49-F238E27FC236}">
                <a16:creationId xmlns:a16="http://schemas.microsoft.com/office/drawing/2014/main" id="{685CB429-B6DD-46D3-82B5-6F9FDCF1F622}"/>
              </a:ext>
            </a:extLst>
          </p:cNvPr>
          <p:cNvSpPr>
            <a:spLocks noGrp="1"/>
          </p:cNvSpPr>
          <p:nvPr/>
        </p:nvSpPr>
        <p:spPr>
          <a:xfrm>
            <a:off x="6233160" y="1946910"/>
            <a:ext cx="224790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Live Monitoring</a:t>
            </a:r>
            <a:endParaRPr sz="1600" dirty="0"/>
          </a:p>
        </p:txBody>
      </p:sp>
      <p:sp>
        <p:nvSpPr>
          <p:cNvPr id="12" name="Text 7">
            <a:extLst>
              <a:ext uri="{FF2B5EF4-FFF2-40B4-BE49-F238E27FC236}">
                <a16:creationId xmlns:a16="http://schemas.microsoft.com/office/drawing/2014/main" id="{5C8FC9E6-8045-4235-BB27-905AFCC4D75C}"/>
              </a:ext>
            </a:extLst>
          </p:cNvPr>
          <p:cNvSpPr>
            <a:spLocks noGrp="1"/>
          </p:cNvSpPr>
          <p:nvPr/>
        </p:nvSpPr>
        <p:spPr>
          <a:xfrm>
            <a:off x="6240780" y="2301240"/>
            <a:ext cx="2743200" cy="323850"/>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500" b="0" dirty="0">
                <a:solidFill>
                  <a:srgbClr val="BBC6D4"/>
                </a:solidFill>
                <a:latin typeface="Aptos"/>
                <a:ea typeface="Aptos"/>
                <a:cs typeface="Aptos"/>
              </a:rPr>
              <a:t>Location, speed, event, and likely cause.</a:t>
            </a:r>
            <a:endParaRPr sz="1500" dirty="0"/>
          </a:p>
        </p:txBody>
      </p:sp>
      <p:sp>
        <p:nvSpPr>
          <p:cNvPr id="13" name="Text 8">
            <a:extLst>
              <a:ext uri="{FF2B5EF4-FFF2-40B4-BE49-F238E27FC236}">
                <a16:creationId xmlns:a16="http://schemas.microsoft.com/office/drawing/2014/main" id="{D0C3F237-452A-4BE5-B417-C90972386FBE}"/>
              </a:ext>
            </a:extLst>
          </p:cNvPr>
          <p:cNvSpPr>
            <a:spLocks noGrp="1"/>
          </p:cNvSpPr>
          <p:nvPr/>
        </p:nvSpPr>
        <p:spPr>
          <a:xfrm>
            <a:off x="6263640" y="2705100"/>
            <a:ext cx="224790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Event</a:t>
            </a:r>
            <a:r>
              <a:rPr sz="1800" b="1" dirty="0">
                <a:solidFill>
                  <a:srgbClr val="00C8F8"/>
                </a:solidFill>
                <a:latin typeface="Aptos"/>
                <a:ea typeface="Aptos"/>
                <a:cs typeface="Aptos"/>
              </a:rPr>
              <a:t> Details</a:t>
            </a:r>
            <a:endParaRPr sz="850" dirty="0"/>
          </a:p>
        </p:txBody>
      </p:sp>
      <p:sp>
        <p:nvSpPr>
          <p:cNvPr id="14" name="Text 9">
            <a:extLst>
              <a:ext uri="{FF2B5EF4-FFF2-40B4-BE49-F238E27FC236}">
                <a16:creationId xmlns:a16="http://schemas.microsoft.com/office/drawing/2014/main" id="{B74615DC-0EDD-45B8-B749-B6EEDE7CF63A}"/>
              </a:ext>
            </a:extLst>
          </p:cNvPr>
          <p:cNvSpPr>
            <a:spLocks noGrp="1"/>
          </p:cNvSpPr>
          <p:nvPr/>
        </p:nvSpPr>
        <p:spPr>
          <a:xfrm>
            <a:off x="6286500" y="2891790"/>
            <a:ext cx="2811780" cy="526694"/>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500" b="0" dirty="0">
                <a:solidFill>
                  <a:srgbClr val="BBC6D4"/>
                </a:solidFill>
                <a:latin typeface="Aptos"/>
                <a:ea typeface="Aptos"/>
                <a:cs typeface="Aptos"/>
              </a:rPr>
              <a:t>Severity, confidence, source, and explanation.</a:t>
            </a:r>
            <a:endParaRPr sz="1500" dirty="0"/>
          </a:p>
        </p:txBody>
      </p:sp>
      <p:sp>
        <p:nvSpPr>
          <p:cNvPr id="15" name="Text 10">
            <a:extLst>
              <a:ext uri="{FF2B5EF4-FFF2-40B4-BE49-F238E27FC236}">
                <a16:creationId xmlns:a16="http://schemas.microsoft.com/office/drawing/2014/main" id="{9950968A-203D-4E2D-80AF-9FF098E67C05}"/>
              </a:ext>
            </a:extLst>
          </p:cNvPr>
          <p:cNvSpPr>
            <a:spLocks noGrp="1"/>
          </p:cNvSpPr>
          <p:nvPr/>
        </p:nvSpPr>
        <p:spPr>
          <a:xfrm>
            <a:off x="6286500" y="3417570"/>
            <a:ext cx="2247900" cy="27432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System Health</a:t>
            </a:r>
            <a:endParaRPr sz="1600" dirty="0"/>
          </a:p>
        </p:txBody>
      </p:sp>
      <p:sp>
        <p:nvSpPr>
          <p:cNvPr id="16" name="Text 11">
            <a:extLst>
              <a:ext uri="{FF2B5EF4-FFF2-40B4-BE49-F238E27FC236}">
                <a16:creationId xmlns:a16="http://schemas.microsoft.com/office/drawing/2014/main" id="{862EF7CE-3B78-4B97-AF22-2DDB3329EEAA}"/>
              </a:ext>
            </a:extLst>
          </p:cNvPr>
          <p:cNvSpPr>
            <a:spLocks noGrp="1"/>
          </p:cNvSpPr>
          <p:nvPr/>
        </p:nvSpPr>
        <p:spPr>
          <a:xfrm>
            <a:off x="6286500" y="3672840"/>
            <a:ext cx="2247900" cy="526694"/>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500" b="0" dirty="0">
                <a:solidFill>
                  <a:srgbClr val="BBC6D4"/>
                </a:solidFill>
                <a:latin typeface="Aptos"/>
                <a:ea typeface="Aptos"/>
                <a:cs typeface="Aptos"/>
              </a:rPr>
              <a:t>GPS, storage, sync, and tamper status.</a:t>
            </a:r>
            <a:endParaRPr sz="1500" dirty="0"/>
          </a:p>
        </p:txBody>
      </p:sp>
      <p:sp>
        <p:nvSpPr>
          <p:cNvPr id="17" name="Text 12">
            <a:extLst>
              <a:ext uri="{FF2B5EF4-FFF2-40B4-BE49-F238E27FC236}">
                <a16:creationId xmlns:a16="http://schemas.microsoft.com/office/drawing/2014/main" id="{95B888C8-EAE9-447C-9CB0-6DC4D3800B2B}"/>
              </a:ext>
            </a:extLst>
          </p:cNvPr>
          <p:cNvSpPr>
            <a:spLocks noGrp="1"/>
          </p:cNvSpPr>
          <p:nvPr/>
        </p:nvSpPr>
        <p:spPr>
          <a:xfrm>
            <a:off x="0" y="0"/>
            <a:ext cx="9525" cy="13074396"/>
          </a:xfrm>
          <a:prstGeom prst="rect">
            <a:avLst/>
          </a:prstGeom>
          <a:noFill/>
          <a:ln w="0">
            <a:noFill/>
            <a:prstDash val="solid"/>
          </a:ln>
        </p:spPr>
        <p:txBody>
          <a:bodyPr wrap="square" lIns="0" tIns="102108" rIns="0" bIns="0" anchor="t">
            <a:spAutoFit/>
          </a:bodyPr>
          <a:lstStyle/>
          <a:p>
            <a:pPr marL="0" indent="0" algn="l">
              <a:lnSpc>
                <a:spcPct val="112000"/>
              </a:lnSpc>
              <a:buNone/>
            </a:pPr>
            <a:endParaRPr sz="800"/>
          </a:p>
        </p:txBody>
      </p:sp>
      <p:sp>
        <p:nvSpPr>
          <p:cNvPr id="18" name="Shape 13">
            <a:extLst>
              <a:ext uri="{FF2B5EF4-FFF2-40B4-BE49-F238E27FC236}">
                <a16:creationId xmlns:a16="http://schemas.microsoft.com/office/drawing/2014/main" id="{E0E6A3CD-CC2B-49EA-932C-E6C1D37F30D0}"/>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19" name="Shape 14">
            <a:extLst>
              <a:ext uri="{FF2B5EF4-FFF2-40B4-BE49-F238E27FC236}">
                <a16:creationId xmlns:a16="http://schemas.microsoft.com/office/drawing/2014/main" id="{C7EFAEC1-4E6A-4009-9577-0F5C42D0A27C}"/>
              </a:ext>
            </a:extLst>
          </p:cNvPr>
          <p:cNvSpPr>
            <a:spLocks noGrp="1"/>
          </p:cNvSpPr>
          <p:nvPr/>
        </p:nvSpPr>
        <p:spPr>
          <a:xfrm>
            <a:off x="614363" y="4793456"/>
            <a:ext cx="7915275" cy="7144"/>
          </a:xfrm>
          <a:prstGeom prst="rect">
            <a:avLst/>
          </a:prstGeom>
          <a:solidFill>
            <a:srgbClr val="FFFFFF"/>
          </a:solidFill>
        </p:spPr>
        <p:txBody>
          <a:bodyPr/>
          <a:lstStyle/>
          <a:p>
            <a:endParaRPr lang="en-US"/>
          </a:p>
        </p:txBody>
      </p:sp>
      <p:sp>
        <p:nvSpPr>
          <p:cNvPr id="20" name="Text 15">
            <a:extLst>
              <a:ext uri="{FF2B5EF4-FFF2-40B4-BE49-F238E27FC236}">
                <a16:creationId xmlns:a16="http://schemas.microsoft.com/office/drawing/2014/main" id="{D3360AC3-CC6E-483C-8999-4D3B45F4F46A}"/>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21" name="Text 16">
            <a:extLst>
              <a:ext uri="{FF2B5EF4-FFF2-40B4-BE49-F238E27FC236}">
                <a16:creationId xmlns:a16="http://schemas.microsoft.com/office/drawing/2014/main" id="{7F4D3E77-0053-4FE3-A3FD-A2D5E5BAA218}"/>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07 / 10</a:t>
            </a:r>
            <a:endParaRPr sz="600"/>
          </a:p>
        </p:txBody>
      </p:sp>
    </p:spTree>
    <p:extLst>
      <p:ext uri="{BB962C8B-B14F-4D97-AF65-F5344CB8AC3E}">
        <p14:creationId xmlns:p14="http://schemas.microsoft.com/office/powerpoint/2010/main" val="1301856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0"/>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B870749F-83BE-4D5C-98E0-245E16230415}"/>
              </a:ext>
            </a:extLst>
          </p:cNvPr>
          <p:cNvSpPr>
            <a:spLocks noGrp="1"/>
          </p:cNvSpPr>
          <p:nvPr/>
        </p:nvSpPr>
        <p:spPr>
          <a:xfrm>
            <a:off x="609600" y="438150"/>
            <a:ext cx="792480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1600" b="1" spc="2">
                <a:solidFill>
                  <a:srgbClr val="00C8F8"/>
                </a:solidFill>
                <a:latin typeface="Aptos"/>
                <a:ea typeface="Aptos"/>
                <a:cs typeface="Aptos"/>
              </a:rPr>
              <a:t>07 / LIVE DEMONSTRATION</a:t>
            </a:r>
            <a:endParaRPr sz="650"/>
          </a:p>
        </p:txBody>
      </p:sp>
      <p:sp>
        <p:nvSpPr>
          <p:cNvPr id="5" name="Text 1">
            <a:extLst>
              <a:ext uri="{FF2B5EF4-FFF2-40B4-BE49-F238E27FC236}">
                <a16:creationId xmlns:a16="http://schemas.microsoft.com/office/drawing/2014/main" id="{B2592C53-A3C8-458B-A77D-9CEDBF63F477}"/>
              </a:ext>
            </a:extLst>
          </p:cNvPr>
          <p:cNvSpPr>
            <a:spLocks noGrp="1"/>
          </p:cNvSpPr>
          <p:nvPr/>
        </p:nvSpPr>
        <p:spPr>
          <a:xfrm>
            <a:off x="609600" y="723900"/>
            <a:ext cx="7924800" cy="476250"/>
          </a:xfrm>
          <a:prstGeom prst="rect">
            <a:avLst/>
          </a:prstGeom>
          <a:noFill/>
        </p:spPr>
        <p:txBody>
          <a:bodyPr wrap="square" lIns="0" tIns="0" rIns="0" bIns="0" anchor="ctr">
            <a:noAutofit/>
          </a:bodyPr>
          <a:lstStyle/>
          <a:p>
            <a:pPr marL="0" indent="0" algn="l">
              <a:buNone/>
              <a:defRPr sz="2600" b="1">
                <a:solidFill>
                  <a:srgbClr val="F7FAFC"/>
                </a:solidFill>
                <a:latin typeface="Aptos"/>
                <a:ea typeface="Aptos"/>
                <a:cs typeface="Aptos"/>
              </a:defRPr>
            </a:pPr>
            <a:r>
              <a:rPr sz="2600" b="1">
                <a:solidFill>
                  <a:srgbClr val="F7FAFC"/>
                </a:solidFill>
                <a:latin typeface="Aptos"/>
                <a:ea typeface="Aptos"/>
                <a:cs typeface="Aptos"/>
              </a:rPr>
              <a:t>Signal in. Operational response out.</a:t>
            </a:r>
            <a:endParaRPr sz="1300"/>
          </a:p>
        </p:txBody>
      </p:sp>
      <p:sp>
        <p:nvSpPr>
          <p:cNvPr id="6" name="Text 2">
            <a:extLst>
              <a:ext uri="{FF2B5EF4-FFF2-40B4-BE49-F238E27FC236}">
                <a16:creationId xmlns:a16="http://schemas.microsoft.com/office/drawing/2014/main" id="{4BC3C8C6-A4ED-48F5-AF86-A3275273A7E7}"/>
              </a:ext>
            </a:extLst>
          </p:cNvPr>
          <p:cNvSpPr>
            <a:spLocks noGrp="1"/>
          </p:cNvSpPr>
          <p:nvPr/>
        </p:nvSpPr>
        <p:spPr>
          <a:xfrm>
            <a:off x="609600" y="1219200"/>
            <a:ext cx="7924800" cy="40005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a:solidFill>
                  <a:srgbClr val="BBC6D4"/>
                </a:solidFill>
                <a:latin typeface="Aptos"/>
                <a:ea typeface="Aptos"/>
                <a:cs typeface="Aptos"/>
              </a:rPr>
              <a:t>A repeatable live story: signal, event, intelligence, supervisor, action.</a:t>
            </a:r>
            <a:endParaRPr sz="850"/>
          </a:p>
        </p:txBody>
      </p:sp>
      <p:sp>
        <p:nvSpPr>
          <p:cNvPr id="7" name="Shape 3">
            <a:extLst>
              <a:ext uri="{FF2B5EF4-FFF2-40B4-BE49-F238E27FC236}">
                <a16:creationId xmlns:a16="http://schemas.microsoft.com/office/drawing/2014/main" id="{FCA18AEC-7744-4F04-AEA5-A0EDCD3A4483}"/>
              </a:ext>
            </a:extLst>
          </p:cNvPr>
          <p:cNvSpPr>
            <a:spLocks noGrp="1"/>
          </p:cNvSpPr>
          <p:nvPr/>
        </p:nvSpPr>
        <p:spPr>
          <a:xfrm>
            <a:off x="609600" y="1962150"/>
            <a:ext cx="342900" cy="342900"/>
          </a:xfrm>
          <a:prstGeom prst="ellipse">
            <a:avLst/>
          </a:prstGeom>
          <a:solidFill>
            <a:srgbClr val="0B1420"/>
          </a:solidFill>
          <a:ln w="19050">
            <a:solidFill>
              <a:srgbClr val="00C8F8"/>
            </a:solidFill>
            <a:prstDash val="solid"/>
          </a:ln>
        </p:spPr>
        <p:txBody>
          <a:bodyPr/>
          <a:lstStyle/>
          <a:p>
            <a:endParaRPr lang="en-US"/>
          </a:p>
        </p:txBody>
      </p:sp>
      <p:sp>
        <p:nvSpPr>
          <p:cNvPr id="8" name="Text 4">
            <a:extLst>
              <a:ext uri="{FF2B5EF4-FFF2-40B4-BE49-F238E27FC236}">
                <a16:creationId xmlns:a16="http://schemas.microsoft.com/office/drawing/2014/main" id="{87B3670D-3D67-4AFE-A0D5-48276CF15359}"/>
              </a:ext>
            </a:extLst>
          </p:cNvPr>
          <p:cNvSpPr>
            <a:spLocks noGrp="1"/>
          </p:cNvSpPr>
          <p:nvPr/>
        </p:nvSpPr>
        <p:spPr>
          <a:xfrm>
            <a:off x="609600" y="1962150"/>
            <a:ext cx="342900" cy="34290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01</a:t>
            </a:r>
            <a:endParaRPr sz="600"/>
          </a:p>
        </p:txBody>
      </p:sp>
      <p:sp>
        <p:nvSpPr>
          <p:cNvPr id="9" name="Text 5">
            <a:extLst>
              <a:ext uri="{FF2B5EF4-FFF2-40B4-BE49-F238E27FC236}">
                <a16:creationId xmlns:a16="http://schemas.microsoft.com/office/drawing/2014/main" id="{8FA5320C-750D-45EF-B2BF-F8EE1C41079B}"/>
              </a:ext>
            </a:extLst>
          </p:cNvPr>
          <p:cNvSpPr>
            <a:spLocks noGrp="1"/>
          </p:cNvSpPr>
          <p:nvPr/>
        </p:nvSpPr>
        <p:spPr>
          <a:xfrm>
            <a:off x="609600" y="2428875"/>
            <a:ext cx="1428750" cy="54864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600" b="1" dirty="0">
                <a:solidFill>
                  <a:srgbClr val="F7FAFC"/>
                </a:solidFill>
                <a:latin typeface="Aptos"/>
                <a:ea typeface="Aptos"/>
                <a:cs typeface="Aptos"/>
              </a:rPr>
              <a:t>Device reading</a:t>
            </a:r>
            <a:endParaRPr sz="1600" dirty="0"/>
          </a:p>
        </p:txBody>
      </p:sp>
      <p:sp>
        <p:nvSpPr>
          <p:cNvPr id="10" name="Text 6">
            <a:extLst>
              <a:ext uri="{FF2B5EF4-FFF2-40B4-BE49-F238E27FC236}">
                <a16:creationId xmlns:a16="http://schemas.microsoft.com/office/drawing/2014/main" id="{A2B74DDA-B702-43AE-A358-59C694B274A0}"/>
              </a:ext>
            </a:extLst>
          </p:cNvPr>
          <p:cNvSpPr>
            <a:spLocks noGrp="1"/>
          </p:cNvSpPr>
          <p:nvPr/>
        </p:nvSpPr>
        <p:spPr>
          <a:xfrm>
            <a:off x="563880" y="2821305"/>
            <a:ext cx="1596390" cy="790042"/>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600" b="0" dirty="0">
                <a:solidFill>
                  <a:srgbClr val="BBC6D4"/>
                </a:solidFill>
                <a:latin typeface="Aptos"/>
                <a:ea typeface="Aptos"/>
                <a:cs typeface="Aptos"/>
              </a:rPr>
              <a:t>Motion or location changes.</a:t>
            </a:r>
            <a:endParaRPr sz="800" dirty="0"/>
          </a:p>
        </p:txBody>
      </p:sp>
      <p:sp>
        <p:nvSpPr>
          <p:cNvPr id="11" name="Shape 7">
            <a:extLst>
              <a:ext uri="{FF2B5EF4-FFF2-40B4-BE49-F238E27FC236}">
                <a16:creationId xmlns:a16="http://schemas.microsoft.com/office/drawing/2014/main" id="{C6D469BE-625A-4FCF-A447-1BDDDBEB4A3D}"/>
              </a:ext>
            </a:extLst>
          </p:cNvPr>
          <p:cNvSpPr>
            <a:spLocks noGrp="1"/>
          </p:cNvSpPr>
          <p:nvPr/>
        </p:nvSpPr>
        <p:spPr>
          <a:xfrm>
            <a:off x="2190750" y="1962150"/>
            <a:ext cx="342900" cy="342900"/>
          </a:xfrm>
          <a:prstGeom prst="ellipse">
            <a:avLst/>
          </a:prstGeom>
          <a:solidFill>
            <a:srgbClr val="0B1420"/>
          </a:solidFill>
          <a:ln w="19050">
            <a:solidFill>
              <a:srgbClr val="00C8F8"/>
            </a:solidFill>
            <a:prstDash val="solid"/>
          </a:ln>
        </p:spPr>
        <p:txBody>
          <a:bodyPr/>
          <a:lstStyle/>
          <a:p>
            <a:endParaRPr lang="en-US"/>
          </a:p>
        </p:txBody>
      </p:sp>
      <p:sp>
        <p:nvSpPr>
          <p:cNvPr id="12" name="Text 8">
            <a:extLst>
              <a:ext uri="{FF2B5EF4-FFF2-40B4-BE49-F238E27FC236}">
                <a16:creationId xmlns:a16="http://schemas.microsoft.com/office/drawing/2014/main" id="{73F8EA77-5176-4BCF-BF55-AD16B29DAC65}"/>
              </a:ext>
            </a:extLst>
          </p:cNvPr>
          <p:cNvSpPr>
            <a:spLocks noGrp="1"/>
          </p:cNvSpPr>
          <p:nvPr/>
        </p:nvSpPr>
        <p:spPr>
          <a:xfrm>
            <a:off x="2190750" y="1962150"/>
            <a:ext cx="342900" cy="34290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02</a:t>
            </a:r>
            <a:endParaRPr sz="600"/>
          </a:p>
        </p:txBody>
      </p:sp>
      <p:sp>
        <p:nvSpPr>
          <p:cNvPr id="13" name="Text 9">
            <a:extLst>
              <a:ext uri="{FF2B5EF4-FFF2-40B4-BE49-F238E27FC236}">
                <a16:creationId xmlns:a16="http://schemas.microsoft.com/office/drawing/2014/main" id="{68326B4A-5C92-429E-AD16-17D3E84F8518}"/>
              </a:ext>
            </a:extLst>
          </p:cNvPr>
          <p:cNvSpPr>
            <a:spLocks noGrp="1"/>
          </p:cNvSpPr>
          <p:nvPr/>
        </p:nvSpPr>
        <p:spPr>
          <a:xfrm>
            <a:off x="2205990" y="2428875"/>
            <a:ext cx="1565910" cy="54864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600" b="1" dirty="0">
                <a:solidFill>
                  <a:srgbClr val="F7FAFC"/>
                </a:solidFill>
                <a:latin typeface="Aptos"/>
                <a:ea typeface="Aptos"/>
                <a:cs typeface="Aptos"/>
              </a:rPr>
              <a:t>Event detected</a:t>
            </a:r>
            <a:endParaRPr sz="1600" dirty="0"/>
          </a:p>
        </p:txBody>
      </p:sp>
      <p:sp>
        <p:nvSpPr>
          <p:cNvPr id="14" name="Text 10">
            <a:extLst>
              <a:ext uri="{FF2B5EF4-FFF2-40B4-BE49-F238E27FC236}">
                <a16:creationId xmlns:a16="http://schemas.microsoft.com/office/drawing/2014/main" id="{0913A180-E370-42C0-BB8C-93E68C0C67B9}"/>
              </a:ext>
            </a:extLst>
          </p:cNvPr>
          <p:cNvSpPr>
            <a:spLocks noGrp="1"/>
          </p:cNvSpPr>
          <p:nvPr/>
        </p:nvSpPr>
        <p:spPr>
          <a:xfrm>
            <a:off x="2274570" y="2912745"/>
            <a:ext cx="1428750" cy="628650"/>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600" b="0" dirty="0">
                <a:solidFill>
                  <a:srgbClr val="BBC6D4"/>
                </a:solidFill>
                <a:latin typeface="Aptos"/>
                <a:ea typeface="Aptos"/>
                <a:cs typeface="Aptos"/>
              </a:rPr>
              <a:t>A risk event is identified.</a:t>
            </a:r>
            <a:endParaRPr sz="800" dirty="0"/>
          </a:p>
        </p:txBody>
      </p:sp>
      <p:sp>
        <p:nvSpPr>
          <p:cNvPr id="15" name="Shape 11">
            <a:extLst>
              <a:ext uri="{FF2B5EF4-FFF2-40B4-BE49-F238E27FC236}">
                <a16:creationId xmlns:a16="http://schemas.microsoft.com/office/drawing/2014/main" id="{513463C7-1A84-45FE-B646-B28C7FCF4750}"/>
              </a:ext>
            </a:extLst>
          </p:cNvPr>
          <p:cNvSpPr>
            <a:spLocks noGrp="1"/>
          </p:cNvSpPr>
          <p:nvPr/>
        </p:nvSpPr>
        <p:spPr>
          <a:xfrm>
            <a:off x="3771900" y="1962150"/>
            <a:ext cx="342900" cy="342900"/>
          </a:xfrm>
          <a:prstGeom prst="ellipse">
            <a:avLst/>
          </a:prstGeom>
          <a:solidFill>
            <a:srgbClr val="0B1420"/>
          </a:solidFill>
          <a:ln w="19050">
            <a:solidFill>
              <a:srgbClr val="00C8F8"/>
            </a:solidFill>
            <a:prstDash val="solid"/>
          </a:ln>
        </p:spPr>
        <p:txBody>
          <a:bodyPr/>
          <a:lstStyle/>
          <a:p>
            <a:endParaRPr lang="en-US"/>
          </a:p>
        </p:txBody>
      </p:sp>
      <p:sp>
        <p:nvSpPr>
          <p:cNvPr id="16" name="Text 12">
            <a:extLst>
              <a:ext uri="{FF2B5EF4-FFF2-40B4-BE49-F238E27FC236}">
                <a16:creationId xmlns:a16="http://schemas.microsoft.com/office/drawing/2014/main" id="{935D117C-BDE0-4C98-94CB-588C65562AC0}"/>
              </a:ext>
            </a:extLst>
          </p:cNvPr>
          <p:cNvSpPr>
            <a:spLocks noGrp="1"/>
          </p:cNvSpPr>
          <p:nvPr/>
        </p:nvSpPr>
        <p:spPr>
          <a:xfrm>
            <a:off x="3771900" y="1962150"/>
            <a:ext cx="342900" cy="34290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03</a:t>
            </a:r>
            <a:endParaRPr sz="600"/>
          </a:p>
        </p:txBody>
      </p:sp>
      <p:sp>
        <p:nvSpPr>
          <p:cNvPr id="17" name="Text 13">
            <a:extLst>
              <a:ext uri="{FF2B5EF4-FFF2-40B4-BE49-F238E27FC236}">
                <a16:creationId xmlns:a16="http://schemas.microsoft.com/office/drawing/2014/main" id="{12DD447C-8941-466D-AAD2-5C2010228F83}"/>
              </a:ext>
            </a:extLst>
          </p:cNvPr>
          <p:cNvSpPr>
            <a:spLocks noGrp="1"/>
          </p:cNvSpPr>
          <p:nvPr/>
        </p:nvSpPr>
        <p:spPr>
          <a:xfrm>
            <a:off x="3802380" y="2413635"/>
            <a:ext cx="1428750" cy="43815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600" b="1" dirty="0">
                <a:solidFill>
                  <a:srgbClr val="F7FAFC"/>
                </a:solidFill>
                <a:latin typeface="Aptos"/>
                <a:ea typeface="Aptos"/>
                <a:cs typeface="Aptos"/>
              </a:rPr>
              <a:t>AI analysis</a:t>
            </a:r>
            <a:endParaRPr sz="1600" dirty="0"/>
          </a:p>
        </p:txBody>
      </p:sp>
      <p:sp>
        <p:nvSpPr>
          <p:cNvPr id="18" name="Text 14">
            <a:extLst>
              <a:ext uri="{FF2B5EF4-FFF2-40B4-BE49-F238E27FC236}">
                <a16:creationId xmlns:a16="http://schemas.microsoft.com/office/drawing/2014/main" id="{B2CBF603-9A2D-4C0A-945F-566F5239DB66}"/>
              </a:ext>
            </a:extLst>
          </p:cNvPr>
          <p:cNvSpPr>
            <a:spLocks noGrp="1"/>
          </p:cNvSpPr>
          <p:nvPr/>
        </p:nvSpPr>
        <p:spPr>
          <a:xfrm>
            <a:off x="3817620" y="2844165"/>
            <a:ext cx="1428750" cy="790042"/>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600" b="0" dirty="0">
                <a:solidFill>
                  <a:srgbClr val="BBC6D4"/>
                </a:solidFill>
                <a:latin typeface="Aptos"/>
                <a:ea typeface="Aptos"/>
                <a:cs typeface="Aptos"/>
              </a:rPr>
              <a:t>Context and evidence are reviewed.</a:t>
            </a:r>
            <a:endParaRPr sz="800" dirty="0"/>
          </a:p>
        </p:txBody>
      </p:sp>
      <p:sp>
        <p:nvSpPr>
          <p:cNvPr id="19" name="Shape 15">
            <a:extLst>
              <a:ext uri="{FF2B5EF4-FFF2-40B4-BE49-F238E27FC236}">
                <a16:creationId xmlns:a16="http://schemas.microsoft.com/office/drawing/2014/main" id="{FBFF9195-84B4-45FC-B389-B68B27C0A0B0}"/>
              </a:ext>
            </a:extLst>
          </p:cNvPr>
          <p:cNvSpPr>
            <a:spLocks noGrp="1"/>
          </p:cNvSpPr>
          <p:nvPr/>
        </p:nvSpPr>
        <p:spPr>
          <a:xfrm>
            <a:off x="5353050" y="1962150"/>
            <a:ext cx="342900" cy="342900"/>
          </a:xfrm>
          <a:prstGeom prst="ellipse">
            <a:avLst/>
          </a:prstGeom>
          <a:solidFill>
            <a:srgbClr val="0B1420"/>
          </a:solidFill>
          <a:ln w="19050">
            <a:solidFill>
              <a:srgbClr val="F5A623"/>
            </a:solidFill>
            <a:prstDash val="solid"/>
          </a:ln>
        </p:spPr>
        <p:txBody>
          <a:bodyPr/>
          <a:lstStyle/>
          <a:p>
            <a:endParaRPr lang="en-US"/>
          </a:p>
        </p:txBody>
      </p:sp>
      <p:sp>
        <p:nvSpPr>
          <p:cNvPr id="20" name="Text 16">
            <a:extLst>
              <a:ext uri="{FF2B5EF4-FFF2-40B4-BE49-F238E27FC236}">
                <a16:creationId xmlns:a16="http://schemas.microsoft.com/office/drawing/2014/main" id="{AB8E027B-D7E0-4BB5-BBFB-A7C97B0C8237}"/>
              </a:ext>
            </a:extLst>
          </p:cNvPr>
          <p:cNvSpPr>
            <a:spLocks noGrp="1"/>
          </p:cNvSpPr>
          <p:nvPr/>
        </p:nvSpPr>
        <p:spPr>
          <a:xfrm>
            <a:off x="5353050" y="1962150"/>
            <a:ext cx="342900" cy="342900"/>
          </a:xfrm>
          <a:prstGeom prst="rect">
            <a:avLst/>
          </a:prstGeom>
          <a:noFill/>
        </p:spPr>
        <p:txBody>
          <a:bodyPr wrap="square" lIns="0" tIns="0" rIns="0" bIns="0" anchor="ctr">
            <a:noAutofit/>
          </a:bodyPr>
          <a:lstStyle/>
          <a:p>
            <a:pPr marL="0" indent="0" algn="ctr">
              <a:buNone/>
              <a:defRPr sz="1600" b="1">
                <a:solidFill>
                  <a:srgbClr val="F5A623"/>
                </a:solidFill>
                <a:latin typeface="Aptos"/>
                <a:ea typeface="Aptos"/>
                <a:cs typeface="Aptos"/>
              </a:defRPr>
            </a:pPr>
            <a:r>
              <a:rPr sz="1600" b="1">
                <a:solidFill>
                  <a:srgbClr val="F5A623"/>
                </a:solidFill>
                <a:latin typeface="Aptos"/>
                <a:ea typeface="Aptos"/>
                <a:cs typeface="Aptos"/>
              </a:rPr>
              <a:t>04</a:t>
            </a:r>
            <a:endParaRPr sz="600"/>
          </a:p>
        </p:txBody>
      </p:sp>
      <p:sp>
        <p:nvSpPr>
          <p:cNvPr id="21" name="Text 17">
            <a:extLst>
              <a:ext uri="{FF2B5EF4-FFF2-40B4-BE49-F238E27FC236}">
                <a16:creationId xmlns:a16="http://schemas.microsoft.com/office/drawing/2014/main" id="{99E6D760-3CD2-45E3-8EA2-87B2C34C29AE}"/>
              </a:ext>
            </a:extLst>
          </p:cNvPr>
          <p:cNvSpPr>
            <a:spLocks noGrp="1"/>
          </p:cNvSpPr>
          <p:nvPr/>
        </p:nvSpPr>
        <p:spPr>
          <a:xfrm>
            <a:off x="5398770" y="2428875"/>
            <a:ext cx="1543050" cy="54864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600" b="1" dirty="0">
                <a:solidFill>
                  <a:srgbClr val="F7FAFC"/>
                </a:solidFill>
                <a:latin typeface="Aptos"/>
                <a:ea typeface="Aptos"/>
                <a:cs typeface="Aptos"/>
              </a:rPr>
              <a:t>Supervisor result</a:t>
            </a:r>
            <a:endParaRPr sz="1600" dirty="0"/>
          </a:p>
        </p:txBody>
      </p:sp>
      <p:sp>
        <p:nvSpPr>
          <p:cNvPr id="22" name="Text 18">
            <a:extLst>
              <a:ext uri="{FF2B5EF4-FFF2-40B4-BE49-F238E27FC236}">
                <a16:creationId xmlns:a16="http://schemas.microsoft.com/office/drawing/2014/main" id="{B4C54461-C510-4D00-BDC3-265FB0C6646F}"/>
              </a:ext>
            </a:extLst>
          </p:cNvPr>
          <p:cNvSpPr>
            <a:spLocks noGrp="1"/>
          </p:cNvSpPr>
          <p:nvPr/>
        </p:nvSpPr>
        <p:spPr>
          <a:xfrm>
            <a:off x="5414010" y="2935605"/>
            <a:ext cx="1543050" cy="790042"/>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sz="1600" b="0" dirty="0">
                <a:solidFill>
                  <a:srgbClr val="BBC6D4"/>
                </a:solidFill>
                <a:latin typeface="Aptos"/>
                <a:ea typeface="Aptos"/>
                <a:cs typeface="Aptos"/>
              </a:rPr>
              <a:t>Cause and confidence appear.</a:t>
            </a:r>
            <a:endParaRPr sz="800" dirty="0"/>
          </a:p>
        </p:txBody>
      </p:sp>
      <p:sp>
        <p:nvSpPr>
          <p:cNvPr id="23" name="Shape 19">
            <a:extLst>
              <a:ext uri="{FF2B5EF4-FFF2-40B4-BE49-F238E27FC236}">
                <a16:creationId xmlns:a16="http://schemas.microsoft.com/office/drawing/2014/main" id="{DF9A6449-C128-4D53-9764-9A97B3CE763C}"/>
              </a:ext>
            </a:extLst>
          </p:cNvPr>
          <p:cNvSpPr>
            <a:spLocks noGrp="1"/>
          </p:cNvSpPr>
          <p:nvPr/>
        </p:nvSpPr>
        <p:spPr>
          <a:xfrm>
            <a:off x="6934200" y="1962150"/>
            <a:ext cx="342900" cy="342900"/>
          </a:xfrm>
          <a:prstGeom prst="ellipse">
            <a:avLst/>
          </a:prstGeom>
          <a:solidFill>
            <a:srgbClr val="0B1420"/>
          </a:solidFill>
          <a:ln w="19050">
            <a:solidFill>
              <a:srgbClr val="00C8F8"/>
            </a:solidFill>
            <a:prstDash val="solid"/>
          </a:ln>
        </p:spPr>
        <p:txBody>
          <a:bodyPr/>
          <a:lstStyle/>
          <a:p>
            <a:endParaRPr lang="en-US"/>
          </a:p>
        </p:txBody>
      </p:sp>
      <p:sp>
        <p:nvSpPr>
          <p:cNvPr id="24" name="Text 20">
            <a:extLst>
              <a:ext uri="{FF2B5EF4-FFF2-40B4-BE49-F238E27FC236}">
                <a16:creationId xmlns:a16="http://schemas.microsoft.com/office/drawing/2014/main" id="{947BC3BC-11A4-4437-958B-2083DC677ACE}"/>
              </a:ext>
            </a:extLst>
          </p:cNvPr>
          <p:cNvSpPr>
            <a:spLocks noGrp="1"/>
          </p:cNvSpPr>
          <p:nvPr/>
        </p:nvSpPr>
        <p:spPr>
          <a:xfrm>
            <a:off x="6934200" y="1962150"/>
            <a:ext cx="342900" cy="342900"/>
          </a:xfrm>
          <a:prstGeom prst="rect">
            <a:avLst/>
          </a:prstGeom>
          <a:noFill/>
        </p:spPr>
        <p:txBody>
          <a:bodyPr wrap="square" lIns="0" tIns="0" rIns="0" bIns="0" anchor="ctr">
            <a:noAutofit/>
          </a:bodyPr>
          <a:lstStyle/>
          <a:p>
            <a:pPr marL="0" indent="0" algn="ctr">
              <a:buNone/>
              <a:defRPr sz="1600" b="1">
                <a:solidFill>
                  <a:srgbClr val="00C8F8"/>
                </a:solidFill>
                <a:latin typeface="Aptos"/>
                <a:ea typeface="Aptos"/>
                <a:cs typeface="Aptos"/>
              </a:defRPr>
            </a:pPr>
            <a:r>
              <a:rPr sz="1600" b="1">
                <a:solidFill>
                  <a:srgbClr val="00C8F8"/>
                </a:solidFill>
                <a:latin typeface="Aptos"/>
                <a:ea typeface="Aptos"/>
                <a:cs typeface="Aptos"/>
              </a:rPr>
              <a:t>05</a:t>
            </a:r>
            <a:endParaRPr sz="600"/>
          </a:p>
        </p:txBody>
      </p:sp>
      <p:sp>
        <p:nvSpPr>
          <p:cNvPr id="25" name="Text 21">
            <a:extLst>
              <a:ext uri="{FF2B5EF4-FFF2-40B4-BE49-F238E27FC236}">
                <a16:creationId xmlns:a16="http://schemas.microsoft.com/office/drawing/2014/main" id="{38141597-16AB-4111-8189-ABE7172AF848}"/>
              </a:ext>
            </a:extLst>
          </p:cNvPr>
          <p:cNvSpPr>
            <a:spLocks noGrp="1"/>
          </p:cNvSpPr>
          <p:nvPr/>
        </p:nvSpPr>
        <p:spPr>
          <a:xfrm>
            <a:off x="6979920" y="2428875"/>
            <a:ext cx="1428750" cy="438150"/>
          </a:xfrm>
          <a:prstGeom prst="rect">
            <a:avLst/>
          </a:prstGeom>
          <a:noFill/>
        </p:spPr>
        <p:txBody>
          <a:bodyPr wrap="square" lIns="0" tIns="0" rIns="0" bIns="0" anchor="ctr">
            <a:noAutofit/>
          </a:bodyPr>
          <a:lstStyle/>
          <a:p>
            <a:pPr marL="0" indent="0" algn="l">
              <a:buNone/>
              <a:defRPr sz="1800" b="1">
                <a:solidFill>
                  <a:srgbClr val="F7FAFC"/>
                </a:solidFill>
                <a:latin typeface="Aptos"/>
                <a:ea typeface="Aptos"/>
                <a:cs typeface="Aptos"/>
              </a:defRPr>
            </a:pPr>
            <a:r>
              <a:rPr sz="1600" b="1" dirty="0">
                <a:solidFill>
                  <a:srgbClr val="F7FAFC"/>
                </a:solidFill>
                <a:latin typeface="Aptos"/>
                <a:ea typeface="Aptos"/>
                <a:cs typeface="Aptos"/>
              </a:rPr>
              <a:t>Follow-up</a:t>
            </a:r>
            <a:endParaRPr sz="1600" dirty="0"/>
          </a:p>
        </p:txBody>
      </p:sp>
      <p:sp>
        <p:nvSpPr>
          <p:cNvPr id="26" name="Text 22">
            <a:extLst>
              <a:ext uri="{FF2B5EF4-FFF2-40B4-BE49-F238E27FC236}">
                <a16:creationId xmlns:a16="http://schemas.microsoft.com/office/drawing/2014/main" id="{2EBADCE6-CC93-41FE-B501-D5532BF91AD6}"/>
              </a:ext>
            </a:extLst>
          </p:cNvPr>
          <p:cNvSpPr>
            <a:spLocks noGrp="1"/>
          </p:cNvSpPr>
          <p:nvPr/>
        </p:nvSpPr>
        <p:spPr>
          <a:xfrm>
            <a:off x="6972300" y="2943225"/>
            <a:ext cx="1595438" cy="628650"/>
          </a:xfrm>
          <a:prstGeom prst="rect">
            <a:avLst/>
          </a:prstGeom>
          <a:noFill/>
        </p:spPr>
        <p:txBody>
          <a:bodyPr wrap="square" lIns="0" tIns="0" rIns="0" bIns="0" anchor="ctr">
            <a:noAutofit/>
          </a:bodyPr>
          <a:lstStyle/>
          <a:p>
            <a:pPr marL="0" indent="0" algn="l">
              <a:lnSpc>
                <a:spcPct val="108000"/>
              </a:lnSpc>
              <a:buNone/>
              <a:defRPr sz="1600" b="0">
                <a:solidFill>
                  <a:srgbClr val="BBC6D4"/>
                </a:solidFill>
                <a:latin typeface="Aptos"/>
                <a:ea typeface="Aptos"/>
                <a:cs typeface="Aptos"/>
              </a:defRPr>
            </a:pPr>
            <a:r>
              <a:rPr lang="en-US" sz="1600" dirty="0">
                <a:solidFill>
                  <a:srgbClr val="BBC6D4"/>
                </a:solidFill>
                <a:latin typeface="Aptos"/>
                <a:ea typeface="Aptos"/>
                <a:cs typeface="Aptos"/>
              </a:rPr>
              <a:t> </a:t>
            </a:r>
            <a:r>
              <a:rPr sz="1600" b="0" dirty="0">
                <a:solidFill>
                  <a:srgbClr val="BBC6D4"/>
                </a:solidFill>
                <a:latin typeface="Aptos"/>
                <a:ea typeface="Aptos"/>
                <a:cs typeface="Aptos"/>
              </a:rPr>
              <a:t>Review the trip</a:t>
            </a:r>
            <a:endParaRPr lang="en-US" sz="1600" b="0" dirty="0">
              <a:solidFill>
                <a:srgbClr val="BBC6D4"/>
              </a:solidFill>
              <a:latin typeface="Aptos"/>
              <a:ea typeface="Aptos"/>
              <a:cs typeface="Aptos"/>
            </a:endParaRPr>
          </a:p>
          <a:p>
            <a:pPr marL="0" indent="0" algn="l">
              <a:lnSpc>
                <a:spcPct val="108000"/>
              </a:lnSpc>
              <a:buNone/>
              <a:defRPr sz="1600" b="0">
                <a:solidFill>
                  <a:srgbClr val="BBC6D4"/>
                </a:solidFill>
                <a:latin typeface="Aptos"/>
                <a:ea typeface="Aptos"/>
                <a:cs typeface="Aptos"/>
              </a:defRPr>
            </a:pPr>
            <a:r>
              <a:rPr lang="en-US" sz="1600" b="0" dirty="0">
                <a:solidFill>
                  <a:srgbClr val="BBC6D4"/>
                </a:solidFill>
                <a:latin typeface="Aptos"/>
                <a:ea typeface="Aptos"/>
                <a:cs typeface="Aptos"/>
              </a:rPr>
              <a:t> </a:t>
            </a:r>
            <a:r>
              <a:rPr lang="en-US" sz="1600" dirty="0">
                <a:solidFill>
                  <a:srgbClr val="BBC6D4"/>
                </a:solidFill>
                <a:latin typeface="Aptos"/>
                <a:ea typeface="Aptos"/>
                <a:cs typeface="Aptos"/>
              </a:rPr>
              <a:t>or</a:t>
            </a:r>
            <a:r>
              <a:rPr sz="1600" b="0" dirty="0">
                <a:solidFill>
                  <a:srgbClr val="BBC6D4"/>
                </a:solidFill>
                <a:latin typeface="Aptos"/>
                <a:ea typeface="Aptos"/>
                <a:cs typeface="Aptos"/>
              </a:rPr>
              <a:t> road.</a:t>
            </a:r>
            <a:endParaRPr sz="800" dirty="0"/>
          </a:p>
        </p:txBody>
      </p:sp>
      <p:sp>
        <p:nvSpPr>
          <p:cNvPr id="27" name="Text 23">
            <a:extLst>
              <a:ext uri="{FF2B5EF4-FFF2-40B4-BE49-F238E27FC236}">
                <a16:creationId xmlns:a16="http://schemas.microsoft.com/office/drawing/2014/main" id="{C406B64C-AF82-447E-ABB1-DDE5A888D275}"/>
              </a:ext>
            </a:extLst>
          </p:cNvPr>
          <p:cNvSpPr>
            <a:spLocks noGrp="1"/>
          </p:cNvSpPr>
          <p:nvPr/>
        </p:nvSpPr>
        <p:spPr>
          <a:xfrm>
            <a:off x="609600" y="3954780"/>
            <a:ext cx="8382000" cy="400050"/>
          </a:xfrm>
          <a:prstGeom prst="rect">
            <a:avLst/>
          </a:prstGeom>
          <a:noFill/>
        </p:spPr>
        <p:txBody>
          <a:bodyPr wrap="square" lIns="0" tIns="0" rIns="0" bIns="0" anchor="ctr">
            <a:noAutofit/>
          </a:bodyPr>
          <a:lstStyle/>
          <a:p>
            <a:pPr marL="0" indent="0" algn="ctr">
              <a:buNone/>
              <a:defRPr sz="1600" b="1">
                <a:solidFill>
                  <a:srgbClr val="37E6A6"/>
                </a:solidFill>
                <a:latin typeface="Aptos"/>
                <a:ea typeface="Aptos"/>
                <a:cs typeface="Aptos"/>
              </a:defRPr>
            </a:pPr>
            <a:r>
              <a:rPr sz="1600" b="1" dirty="0">
                <a:solidFill>
                  <a:srgbClr val="37E6A6"/>
                </a:solidFill>
                <a:latin typeface="Aptos"/>
                <a:ea typeface="Aptos"/>
                <a:cs typeface="Aptos"/>
              </a:rPr>
              <a:t>Current scope: supervisor awareness through the dashboard.</a:t>
            </a:r>
            <a:endParaRPr sz="850" dirty="0"/>
          </a:p>
        </p:txBody>
      </p:sp>
      <p:sp>
        <p:nvSpPr>
          <p:cNvPr id="28" name="Shape 24">
            <a:extLst>
              <a:ext uri="{FF2B5EF4-FFF2-40B4-BE49-F238E27FC236}">
                <a16:creationId xmlns:a16="http://schemas.microsoft.com/office/drawing/2014/main" id="{849FBFCB-A125-4BE3-B87E-509E9D9B8D91}"/>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29" name="Shape 25">
            <a:extLst>
              <a:ext uri="{FF2B5EF4-FFF2-40B4-BE49-F238E27FC236}">
                <a16:creationId xmlns:a16="http://schemas.microsoft.com/office/drawing/2014/main" id="{0789AF8F-102C-4034-91C4-4E89A2E00AEA}"/>
              </a:ext>
            </a:extLst>
          </p:cNvPr>
          <p:cNvSpPr>
            <a:spLocks noGrp="1"/>
          </p:cNvSpPr>
          <p:nvPr/>
        </p:nvSpPr>
        <p:spPr>
          <a:xfrm>
            <a:off x="614363" y="4793456"/>
            <a:ext cx="7915275" cy="7144"/>
          </a:xfrm>
          <a:prstGeom prst="rect">
            <a:avLst/>
          </a:prstGeom>
          <a:solidFill>
            <a:srgbClr val="FFFFFF"/>
          </a:solidFill>
        </p:spPr>
        <p:txBody>
          <a:bodyPr/>
          <a:lstStyle/>
          <a:p>
            <a:endParaRPr lang="en-US"/>
          </a:p>
        </p:txBody>
      </p:sp>
      <p:sp>
        <p:nvSpPr>
          <p:cNvPr id="30" name="Text 26">
            <a:extLst>
              <a:ext uri="{FF2B5EF4-FFF2-40B4-BE49-F238E27FC236}">
                <a16:creationId xmlns:a16="http://schemas.microsoft.com/office/drawing/2014/main" id="{2C1F1C6E-E3B2-4477-B233-FD7F16E06636}"/>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31" name="Text 27">
            <a:extLst>
              <a:ext uri="{FF2B5EF4-FFF2-40B4-BE49-F238E27FC236}">
                <a16:creationId xmlns:a16="http://schemas.microsoft.com/office/drawing/2014/main" id="{C52C6FA0-83A0-425C-9456-BEBC2AAA91F9}"/>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08 / 10</a:t>
            </a:r>
            <a:endParaRPr sz="600"/>
          </a:p>
        </p:txBody>
      </p:sp>
    </p:spTree>
    <p:extLst>
      <p:ext uri="{BB962C8B-B14F-4D97-AF65-F5344CB8AC3E}">
        <p14:creationId xmlns:p14="http://schemas.microsoft.com/office/powerpoint/2010/main" val="817808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1EB1135A-47C4-4EDA-AC33-8CA86E0CBD24}"/>
              </a:ext>
            </a:extLst>
          </p:cNvPr>
          <p:cNvSpPr>
            <a:spLocks noGrp="1"/>
          </p:cNvSpPr>
          <p:nvPr/>
        </p:nvSpPr>
        <p:spPr>
          <a:xfrm>
            <a:off x="609600" y="438150"/>
            <a:ext cx="792480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08 / IMPACT</a:t>
            </a:r>
            <a:endParaRPr sz="2000" dirty="0"/>
          </a:p>
        </p:txBody>
      </p:sp>
      <p:sp>
        <p:nvSpPr>
          <p:cNvPr id="5" name="Text 1">
            <a:extLst>
              <a:ext uri="{FF2B5EF4-FFF2-40B4-BE49-F238E27FC236}">
                <a16:creationId xmlns:a16="http://schemas.microsoft.com/office/drawing/2014/main" id="{86BE9C13-9E16-4ABB-BC5A-FB57D2A40D92}"/>
              </a:ext>
            </a:extLst>
          </p:cNvPr>
          <p:cNvSpPr>
            <a:spLocks noGrp="1"/>
          </p:cNvSpPr>
          <p:nvPr/>
        </p:nvSpPr>
        <p:spPr>
          <a:xfrm>
            <a:off x="609600" y="723900"/>
            <a:ext cx="7924800" cy="476250"/>
          </a:xfrm>
          <a:prstGeom prst="rect">
            <a:avLst/>
          </a:prstGeom>
          <a:noFill/>
        </p:spPr>
        <p:txBody>
          <a:bodyPr wrap="square" lIns="0" tIns="0" rIns="0" bIns="0" anchor="ctr">
            <a:noAutofit/>
          </a:bodyPr>
          <a:lstStyle/>
          <a:p>
            <a:pPr marL="0" indent="0" algn="l">
              <a:buNone/>
              <a:defRPr sz="2600" b="1">
                <a:solidFill>
                  <a:srgbClr val="F7FAFC"/>
                </a:solidFill>
                <a:latin typeface="Aptos"/>
                <a:ea typeface="Aptos"/>
                <a:cs typeface="Aptos"/>
              </a:defRPr>
            </a:pPr>
            <a:r>
              <a:rPr sz="2400" b="1" dirty="0">
                <a:solidFill>
                  <a:srgbClr val="F7FAFC"/>
                </a:solidFill>
                <a:latin typeface="Aptos"/>
                <a:ea typeface="Aptos"/>
                <a:cs typeface="Aptos"/>
              </a:rPr>
              <a:t>Practical value for fleets and transport in Jordan</a:t>
            </a:r>
            <a:endParaRPr sz="2400" dirty="0"/>
          </a:p>
        </p:txBody>
      </p:sp>
      <p:sp>
        <p:nvSpPr>
          <p:cNvPr id="6" name="Text 2">
            <a:extLst>
              <a:ext uri="{FF2B5EF4-FFF2-40B4-BE49-F238E27FC236}">
                <a16:creationId xmlns:a16="http://schemas.microsoft.com/office/drawing/2014/main" id="{4BA65626-4D15-4218-A039-D585AC6D9669}"/>
              </a:ext>
            </a:extLst>
          </p:cNvPr>
          <p:cNvSpPr>
            <a:spLocks noGrp="1"/>
          </p:cNvSpPr>
          <p:nvPr/>
        </p:nvSpPr>
        <p:spPr>
          <a:xfrm>
            <a:off x="609600" y="1219200"/>
            <a:ext cx="7924800" cy="41910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RoadPulse-AI turns reactive reporting into evidence-based prevention.</a:t>
            </a:r>
            <a:endParaRPr sz="900" dirty="0"/>
          </a:p>
        </p:txBody>
      </p:sp>
      <p:sp>
        <p:nvSpPr>
          <p:cNvPr id="7" name="Text 3">
            <a:extLst>
              <a:ext uri="{FF2B5EF4-FFF2-40B4-BE49-F238E27FC236}">
                <a16:creationId xmlns:a16="http://schemas.microsoft.com/office/drawing/2014/main" id="{22983B6F-662D-4DD9-9823-04746D5073EA}"/>
              </a:ext>
            </a:extLst>
          </p:cNvPr>
          <p:cNvSpPr>
            <a:spLocks noGrp="1"/>
          </p:cNvSpPr>
          <p:nvPr/>
        </p:nvSpPr>
        <p:spPr>
          <a:xfrm>
            <a:off x="609600" y="1952625"/>
            <a:ext cx="457200" cy="32385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a:solidFill>
                  <a:srgbClr val="F5A623"/>
                </a:solidFill>
                <a:latin typeface="Aptos"/>
                <a:ea typeface="Aptos"/>
                <a:cs typeface="Aptos"/>
              </a:rPr>
              <a:t>01</a:t>
            </a:r>
            <a:endParaRPr sz="800"/>
          </a:p>
        </p:txBody>
      </p:sp>
      <p:sp>
        <p:nvSpPr>
          <p:cNvPr id="8" name="Text 4">
            <a:extLst>
              <a:ext uri="{FF2B5EF4-FFF2-40B4-BE49-F238E27FC236}">
                <a16:creationId xmlns:a16="http://schemas.microsoft.com/office/drawing/2014/main" id="{386C1C88-04BA-4C28-80F3-4E03B9AB1008}"/>
              </a:ext>
            </a:extLst>
          </p:cNvPr>
          <p:cNvSpPr>
            <a:spLocks noGrp="1"/>
          </p:cNvSpPr>
          <p:nvPr/>
        </p:nvSpPr>
        <p:spPr>
          <a:xfrm>
            <a:off x="1245870" y="1933575"/>
            <a:ext cx="2480310" cy="54864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Operational understanding</a:t>
            </a:r>
            <a:endParaRPr sz="1600" dirty="0"/>
          </a:p>
        </p:txBody>
      </p:sp>
      <p:sp>
        <p:nvSpPr>
          <p:cNvPr id="9" name="Text 5">
            <a:extLst>
              <a:ext uri="{FF2B5EF4-FFF2-40B4-BE49-F238E27FC236}">
                <a16:creationId xmlns:a16="http://schemas.microsoft.com/office/drawing/2014/main" id="{ECBEA0E1-22B1-47A9-A1A7-E504BFDB0ABA}"/>
              </a:ext>
            </a:extLst>
          </p:cNvPr>
          <p:cNvSpPr>
            <a:spLocks noGrp="1"/>
          </p:cNvSpPr>
          <p:nvPr/>
        </p:nvSpPr>
        <p:spPr>
          <a:xfrm>
            <a:off x="3905250" y="2070735"/>
            <a:ext cx="4629150" cy="40005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Understand events and risks during every trip.</a:t>
            </a:r>
            <a:endParaRPr sz="850" dirty="0"/>
          </a:p>
        </p:txBody>
      </p:sp>
      <p:sp>
        <p:nvSpPr>
          <p:cNvPr id="10" name="Text 6">
            <a:extLst>
              <a:ext uri="{FF2B5EF4-FFF2-40B4-BE49-F238E27FC236}">
                <a16:creationId xmlns:a16="http://schemas.microsoft.com/office/drawing/2014/main" id="{E6D748B1-96BA-4157-9540-A57B9E64258D}"/>
              </a:ext>
            </a:extLst>
          </p:cNvPr>
          <p:cNvSpPr>
            <a:spLocks noGrp="1"/>
          </p:cNvSpPr>
          <p:nvPr/>
        </p:nvSpPr>
        <p:spPr>
          <a:xfrm>
            <a:off x="609600" y="2543175"/>
            <a:ext cx="457200" cy="32385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a:solidFill>
                  <a:srgbClr val="F5A623"/>
                </a:solidFill>
                <a:latin typeface="Aptos"/>
                <a:ea typeface="Aptos"/>
                <a:cs typeface="Aptos"/>
              </a:rPr>
              <a:t>02</a:t>
            </a:r>
            <a:endParaRPr sz="800"/>
          </a:p>
        </p:txBody>
      </p:sp>
      <p:sp>
        <p:nvSpPr>
          <p:cNvPr id="11" name="Text 7">
            <a:extLst>
              <a:ext uri="{FF2B5EF4-FFF2-40B4-BE49-F238E27FC236}">
                <a16:creationId xmlns:a16="http://schemas.microsoft.com/office/drawing/2014/main" id="{A54BADFC-0E03-4F6D-8449-E4E6E2142D27}"/>
              </a:ext>
            </a:extLst>
          </p:cNvPr>
          <p:cNvSpPr>
            <a:spLocks noGrp="1"/>
          </p:cNvSpPr>
          <p:nvPr/>
        </p:nvSpPr>
        <p:spPr>
          <a:xfrm>
            <a:off x="1253490" y="2417445"/>
            <a:ext cx="2647950" cy="54864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Evidence-based</a:t>
            </a:r>
            <a:r>
              <a:rPr sz="1800" b="1" dirty="0">
                <a:solidFill>
                  <a:srgbClr val="00C8F8"/>
                </a:solidFill>
                <a:latin typeface="Aptos"/>
                <a:ea typeface="Aptos"/>
                <a:cs typeface="Aptos"/>
              </a:rPr>
              <a:t> </a:t>
            </a:r>
            <a:r>
              <a:rPr sz="1600" b="1" dirty="0">
                <a:solidFill>
                  <a:srgbClr val="00C8F8"/>
                </a:solidFill>
                <a:latin typeface="Aptos"/>
                <a:ea typeface="Aptos"/>
                <a:cs typeface="Aptos"/>
              </a:rPr>
              <a:t>supervision</a:t>
            </a:r>
            <a:endParaRPr sz="1600" dirty="0"/>
          </a:p>
        </p:txBody>
      </p:sp>
      <p:sp>
        <p:nvSpPr>
          <p:cNvPr id="12" name="Text 8">
            <a:extLst>
              <a:ext uri="{FF2B5EF4-FFF2-40B4-BE49-F238E27FC236}">
                <a16:creationId xmlns:a16="http://schemas.microsoft.com/office/drawing/2014/main" id="{E7A270EA-09B3-4599-B622-E20CBC45945D}"/>
              </a:ext>
            </a:extLst>
          </p:cNvPr>
          <p:cNvSpPr>
            <a:spLocks noGrp="1"/>
          </p:cNvSpPr>
          <p:nvPr/>
        </p:nvSpPr>
        <p:spPr>
          <a:xfrm>
            <a:off x="3973830" y="2585085"/>
            <a:ext cx="4629150" cy="40005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lang="en-US" sz="1600" b="0" dirty="0">
                <a:solidFill>
                  <a:srgbClr val="BBC6D4"/>
                </a:solidFill>
                <a:latin typeface="Aptos"/>
                <a:ea typeface="Aptos"/>
                <a:cs typeface="Aptos"/>
              </a:rPr>
              <a:t>  </a:t>
            </a:r>
            <a:r>
              <a:rPr sz="1600" b="0" dirty="0">
                <a:solidFill>
                  <a:srgbClr val="BBC6D4"/>
                </a:solidFill>
                <a:latin typeface="Aptos"/>
                <a:ea typeface="Aptos"/>
                <a:cs typeface="Aptos"/>
              </a:rPr>
              <a:t>Give teams reviewable evidence for follow-up.</a:t>
            </a:r>
            <a:endParaRPr sz="850" dirty="0"/>
          </a:p>
        </p:txBody>
      </p:sp>
      <p:sp>
        <p:nvSpPr>
          <p:cNvPr id="13" name="Text 9">
            <a:extLst>
              <a:ext uri="{FF2B5EF4-FFF2-40B4-BE49-F238E27FC236}">
                <a16:creationId xmlns:a16="http://schemas.microsoft.com/office/drawing/2014/main" id="{925144C0-0779-4F45-AC4B-563E8452EB93}"/>
              </a:ext>
            </a:extLst>
          </p:cNvPr>
          <p:cNvSpPr>
            <a:spLocks noGrp="1"/>
          </p:cNvSpPr>
          <p:nvPr/>
        </p:nvSpPr>
        <p:spPr>
          <a:xfrm>
            <a:off x="609600" y="3133725"/>
            <a:ext cx="457200" cy="32385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a:solidFill>
                  <a:srgbClr val="F5A623"/>
                </a:solidFill>
                <a:latin typeface="Aptos"/>
                <a:ea typeface="Aptos"/>
                <a:cs typeface="Aptos"/>
              </a:rPr>
              <a:t>03</a:t>
            </a:r>
            <a:endParaRPr sz="800"/>
          </a:p>
        </p:txBody>
      </p:sp>
      <p:sp>
        <p:nvSpPr>
          <p:cNvPr id="14" name="Text 10">
            <a:extLst>
              <a:ext uri="{FF2B5EF4-FFF2-40B4-BE49-F238E27FC236}">
                <a16:creationId xmlns:a16="http://schemas.microsoft.com/office/drawing/2014/main" id="{5E080C6C-4651-43CD-B132-0854D1F22924}"/>
              </a:ext>
            </a:extLst>
          </p:cNvPr>
          <p:cNvSpPr>
            <a:spLocks noGrp="1"/>
          </p:cNvSpPr>
          <p:nvPr/>
        </p:nvSpPr>
        <p:spPr>
          <a:xfrm>
            <a:off x="1261110" y="3007995"/>
            <a:ext cx="2400300" cy="54864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Road hazard knowledge</a:t>
            </a:r>
            <a:endParaRPr sz="1600" dirty="0"/>
          </a:p>
        </p:txBody>
      </p:sp>
      <p:sp>
        <p:nvSpPr>
          <p:cNvPr id="15" name="Text 11">
            <a:extLst>
              <a:ext uri="{FF2B5EF4-FFF2-40B4-BE49-F238E27FC236}">
                <a16:creationId xmlns:a16="http://schemas.microsoft.com/office/drawing/2014/main" id="{B2E00DBC-A2AC-4A9F-9FD6-02D2DB1EA847}"/>
              </a:ext>
            </a:extLst>
          </p:cNvPr>
          <p:cNvSpPr>
            <a:spLocks noGrp="1"/>
          </p:cNvSpPr>
          <p:nvPr/>
        </p:nvSpPr>
        <p:spPr>
          <a:xfrm>
            <a:off x="4065270" y="3152775"/>
            <a:ext cx="4629150" cy="40005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lang="en-US" sz="1600" b="0" dirty="0">
                <a:solidFill>
                  <a:srgbClr val="BBC6D4"/>
                </a:solidFill>
                <a:latin typeface="Aptos"/>
                <a:ea typeface="Aptos"/>
                <a:cs typeface="Aptos"/>
              </a:rPr>
              <a:t>   </a:t>
            </a:r>
            <a:r>
              <a:rPr sz="1600" b="0" dirty="0">
                <a:solidFill>
                  <a:srgbClr val="BBC6D4"/>
                </a:solidFill>
                <a:latin typeface="Aptos"/>
                <a:ea typeface="Aptos"/>
                <a:cs typeface="Aptos"/>
              </a:rPr>
              <a:t>Reveal locations where hazards repeatedly occur.</a:t>
            </a:r>
            <a:endParaRPr sz="850" dirty="0"/>
          </a:p>
        </p:txBody>
      </p:sp>
      <p:sp>
        <p:nvSpPr>
          <p:cNvPr id="16" name="Text 12">
            <a:extLst>
              <a:ext uri="{FF2B5EF4-FFF2-40B4-BE49-F238E27FC236}">
                <a16:creationId xmlns:a16="http://schemas.microsoft.com/office/drawing/2014/main" id="{D8741E0C-5662-4C99-9414-86D268189E7B}"/>
              </a:ext>
            </a:extLst>
          </p:cNvPr>
          <p:cNvSpPr>
            <a:spLocks noGrp="1"/>
          </p:cNvSpPr>
          <p:nvPr/>
        </p:nvSpPr>
        <p:spPr>
          <a:xfrm>
            <a:off x="609600" y="3724275"/>
            <a:ext cx="457200" cy="323850"/>
          </a:xfrm>
          <a:prstGeom prst="rect">
            <a:avLst/>
          </a:prstGeom>
          <a:noFill/>
        </p:spPr>
        <p:txBody>
          <a:bodyPr wrap="square" lIns="0" tIns="0" rIns="0" bIns="0" anchor="ctr">
            <a:noAutofit/>
          </a:bodyPr>
          <a:lstStyle/>
          <a:p>
            <a:pPr marL="0" indent="0" algn="l">
              <a:buNone/>
              <a:defRPr sz="1600" b="1">
                <a:solidFill>
                  <a:srgbClr val="F5A623"/>
                </a:solidFill>
                <a:latin typeface="Aptos"/>
                <a:ea typeface="Aptos"/>
                <a:cs typeface="Aptos"/>
              </a:defRPr>
            </a:pPr>
            <a:r>
              <a:rPr sz="1600" b="1">
                <a:solidFill>
                  <a:srgbClr val="F5A623"/>
                </a:solidFill>
                <a:latin typeface="Aptos"/>
                <a:ea typeface="Aptos"/>
                <a:cs typeface="Aptos"/>
              </a:rPr>
              <a:t>04</a:t>
            </a:r>
            <a:endParaRPr sz="800"/>
          </a:p>
        </p:txBody>
      </p:sp>
      <p:sp>
        <p:nvSpPr>
          <p:cNvPr id="17" name="Text 13">
            <a:extLst>
              <a:ext uri="{FF2B5EF4-FFF2-40B4-BE49-F238E27FC236}">
                <a16:creationId xmlns:a16="http://schemas.microsoft.com/office/drawing/2014/main" id="{BF777E96-3F86-4A57-B81E-4FAF3364B83C}"/>
              </a:ext>
            </a:extLst>
          </p:cNvPr>
          <p:cNvSpPr>
            <a:spLocks noGrp="1"/>
          </p:cNvSpPr>
          <p:nvPr/>
        </p:nvSpPr>
        <p:spPr>
          <a:xfrm>
            <a:off x="1249680" y="3560445"/>
            <a:ext cx="2480310" cy="54864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600" b="1" dirty="0">
                <a:solidFill>
                  <a:srgbClr val="00C8F8"/>
                </a:solidFill>
                <a:latin typeface="Aptos"/>
                <a:ea typeface="Aptos"/>
                <a:cs typeface="Aptos"/>
              </a:rPr>
              <a:t>Scalable transport use</a:t>
            </a:r>
            <a:endParaRPr sz="1600" dirty="0"/>
          </a:p>
        </p:txBody>
      </p:sp>
      <p:sp>
        <p:nvSpPr>
          <p:cNvPr id="18" name="Text 14">
            <a:extLst>
              <a:ext uri="{FF2B5EF4-FFF2-40B4-BE49-F238E27FC236}">
                <a16:creationId xmlns:a16="http://schemas.microsoft.com/office/drawing/2014/main" id="{0323584B-CC67-4A87-8820-ACA0A6473987}"/>
              </a:ext>
            </a:extLst>
          </p:cNvPr>
          <p:cNvSpPr>
            <a:spLocks noGrp="1"/>
          </p:cNvSpPr>
          <p:nvPr/>
        </p:nvSpPr>
        <p:spPr>
          <a:xfrm>
            <a:off x="4278630" y="3705225"/>
            <a:ext cx="4629150" cy="400050"/>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lang="en-US" sz="1600" b="0" dirty="0">
                <a:solidFill>
                  <a:srgbClr val="BBC6D4"/>
                </a:solidFill>
                <a:latin typeface="Aptos"/>
                <a:ea typeface="Aptos"/>
                <a:cs typeface="Aptos"/>
              </a:rPr>
              <a:t> </a:t>
            </a:r>
            <a:r>
              <a:rPr sz="1600" b="0" dirty="0">
                <a:solidFill>
                  <a:srgbClr val="BBC6D4"/>
                </a:solidFill>
                <a:latin typeface="Aptos"/>
                <a:ea typeface="Aptos"/>
                <a:cs typeface="Aptos"/>
              </a:rPr>
              <a:t>Extend across vehicles, fleets, and services.</a:t>
            </a:r>
            <a:endParaRPr sz="850" dirty="0"/>
          </a:p>
        </p:txBody>
      </p:sp>
      <p:sp>
        <p:nvSpPr>
          <p:cNvPr id="19" name="Text 15">
            <a:extLst>
              <a:ext uri="{FF2B5EF4-FFF2-40B4-BE49-F238E27FC236}">
                <a16:creationId xmlns:a16="http://schemas.microsoft.com/office/drawing/2014/main" id="{81FF8821-068A-4264-9873-15ED183089D5}"/>
              </a:ext>
            </a:extLst>
          </p:cNvPr>
          <p:cNvSpPr>
            <a:spLocks noGrp="1"/>
          </p:cNvSpPr>
          <p:nvPr/>
        </p:nvSpPr>
        <p:spPr>
          <a:xfrm>
            <a:off x="609600" y="4324350"/>
            <a:ext cx="7924800" cy="371348"/>
          </a:xfrm>
          <a:prstGeom prst="rect">
            <a:avLst/>
          </a:prstGeom>
          <a:noFill/>
        </p:spPr>
        <p:txBody>
          <a:bodyPr wrap="square" lIns="0" tIns="0" rIns="0" bIns="0" anchor="ctr">
            <a:noAutofit/>
          </a:bodyPr>
          <a:lstStyle/>
          <a:p>
            <a:pPr marL="0" indent="0" algn="ctr">
              <a:buNone/>
              <a:defRPr sz="1600" b="1">
                <a:solidFill>
                  <a:srgbClr val="37E6A6"/>
                </a:solidFill>
                <a:latin typeface="Aptos"/>
                <a:ea typeface="Aptos"/>
                <a:cs typeface="Aptos"/>
              </a:defRPr>
            </a:pPr>
            <a:r>
              <a:rPr sz="1600" b="1" dirty="0">
                <a:solidFill>
                  <a:srgbClr val="37E6A6"/>
                </a:solidFill>
                <a:latin typeface="Aptos"/>
                <a:ea typeface="Aptos"/>
                <a:cs typeface="Aptos"/>
              </a:rPr>
              <a:t>Impact: every trip adds to a growing operational picture.</a:t>
            </a:r>
            <a:endParaRPr sz="1000" dirty="0"/>
          </a:p>
        </p:txBody>
      </p:sp>
      <p:sp>
        <p:nvSpPr>
          <p:cNvPr id="20" name="Shape 16">
            <a:extLst>
              <a:ext uri="{FF2B5EF4-FFF2-40B4-BE49-F238E27FC236}">
                <a16:creationId xmlns:a16="http://schemas.microsoft.com/office/drawing/2014/main" id="{7039E4F4-EA64-4E7E-AF3D-9B9636874207}"/>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21" name="Shape 17">
            <a:extLst>
              <a:ext uri="{FF2B5EF4-FFF2-40B4-BE49-F238E27FC236}">
                <a16:creationId xmlns:a16="http://schemas.microsoft.com/office/drawing/2014/main" id="{E64148E1-7241-4882-97E6-691C9D4B8F99}"/>
              </a:ext>
            </a:extLst>
          </p:cNvPr>
          <p:cNvSpPr>
            <a:spLocks noGrp="1"/>
          </p:cNvSpPr>
          <p:nvPr/>
        </p:nvSpPr>
        <p:spPr>
          <a:xfrm>
            <a:off x="614363" y="4793456"/>
            <a:ext cx="7915275" cy="7144"/>
          </a:xfrm>
          <a:prstGeom prst="rect">
            <a:avLst/>
          </a:prstGeom>
          <a:solidFill>
            <a:srgbClr val="FFFFFF"/>
          </a:solidFill>
        </p:spPr>
        <p:txBody>
          <a:bodyPr/>
          <a:lstStyle/>
          <a:p>
            <a:endParaRPr lang="en-US"/>
          </a:p>
        </p:txBody>
      </p:sp>
      <p:sp>
        <p:nvSpPr>
          <p:cNvPr id="22" name="Text 18">
            <a:extLst>
              <a:ext uri="{FF2B5EF4-FFF2-40B4-BE49-F238E27FC236}">
                <a16:creationId xmlns:a16="http://schemas.microsoft.com/office/drawing/2014/main" id="{B5BC99FC-663B-4446-A598-C1787F038C92}"/>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23" name="Text 19">
            <a:extLst>
              <a:ext uri="{FF2B5EF4-FFF2-40B4-BE49-F238E27FC236}">
                <a16:creationId xmlns:a16="http://schemas.microsoft.com/office/drawing/2014/main" id="{B45DAC14-AB87-43A8-80A8-0FEBBCAE5FFD}"/>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09 / 10</a:t>
            </a:r>
            <a:endParaRPr sz="600"/>
          </a:p>
        </p:txBody>
      </p:sp>
    </p:spTree>
    <p:extLst>
      <p:ext uri="{BB962C8B-B14F-4D97-AF65-F5344CB8AC3E}">
        <p14:creationId xmlns:p14="http://schemas.microsoft.com/office/powerpoint/2010/main" val="1549570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0" y="0"/>
            <a:ext cx="9144000" cy="5143500"/>
          </a:xfrm>
          <a:prstGeom prst="rect">
            <a:avLst/>
          </a:prstGeom>
        </p:spPr>
      </p:pic>
      <p:pic>
        <p:nvPicPr>
          <p:cNvPr id="26" name="Image 1"/>
          <p:cNvPicPr>
            <a:picLocks noChangeAspect="1"/>
          </p:cNvPicPr>
          <p:nvPr/>
        </p:nvPicPr>
        <p:blipFill>
          <a:blip r:embed="rId4"/>
          <a:stretch>
            <a:fillRect/>
          </a:stretch>
        </p:blipFill>
        <p:spPr>
          <a:xfrm>
            <a:off x="614363" y="457200"/>
            <a:ext cx="1571625" cy="478631"/>
          </a:xfrm>
          <a:prstGeom prst="rect">
            <a:avLst/>
          </a:prstGeom>
        </p:spPr>
      </p:pic>
      <p:sp>
        <p:nvSpPr>
          <p:cNvPr id="5" name="Text 0">
            <a:extLst>
              <a:ext uri="{FF2B5EF4-FFF2-40B4-BE49-F238E27FC236}">
                <a16:creationId xmlns:a16="http://schemas.microsoft.com/office/drawing/2014/main" id="{EBC19FA9-7CA1-4F76-BE7D-51AF73209567}"/>
              </a:ext>
            </a:extLst>
          </p:cNvPr>
          <p:cNvSpPr>
            <a:spLocks noGrp="1"/>
          </p:cNvSpPr>
          <p:nvPr/>
        </p:nvSpPr>
        <p:spPr>
          <a:xfrm>
            <a:off x="2381250" y="419100"/>
            <a:ext cx="6153150" cy="247650"/>
          </a:xfrm>
          <a:prstGeom prst="rect">
            <a:avLst/>
          </a:prstGeom>
          <a:noFill/>
        </p:spPr>
        <p:txBody>
          <a:bodyPr wrap="square" lIns="0" tIns="0" rIns="0" bIns="0" anchor="ctr">
            <a:noAutofit/>
          </a:bodyPr>
          <a:lstStyle/>
          <a:p>
            <a:pPr marL="0" indent="0" algn="l">
              <a:buNone/>
              <a:defRPr sz="1600" b="1">
                <a:solidFill>
                  <a:srgbClr val="00C8F8"/>
                </a:solidFill>
                <a:latin typeface="Aptos"/>
                <a:ea typeface="Aptos"/>
                <a:cs typeface="Aptos"/>
              </a:defRPr>
            </a:pPr>
            <a:r>
              <a:rPr sz="2000" b="1" spc="2" dirty="0">
                <a:solidFill>
                  <a:srgbClr val="00C8F8"/>
                </a:solidFill>
                <a:latin typeface="Aptos"/>
                <a:ea typeface="Aptos"/>
                <a:cs typeface="Aptos"/>
              </a:rPr>
              <a:t>09 / CONCLUSION &amp; VISION</a:t>
            </a:r>
            <a:endParaRPr sz="2000" dirty="0"/>
          </a:p>
        </p:txBody>
      </p:sp>
      <p:sp>
        <p:nvSpPr>
          <p:cNvPr id="6" name="Text 1">
            <a:extLst>
              <a:ext uri="{FF2B5EF4-FFF2-40B4-BE49-F238E27FC236}">
                <a16:creationId xmlns:a16="http://schemas.microsoft.com/office/drawing/2014/main" id="{E7BCC87F-1EE6-4BA4-9774-BA6D5EC7B312}"/>
              </a:ext>
            </a:extLst>
          </p:cNvPr>
          <p:cNvSpPr>
            <a:spLocks noGrp="1"/>
          </p:cNvSpPr>
          <p:nvPr/>
        </p:nvSpPr>
        <p:spPr>
          <a:xfrm>
            <a:off x="2381250" y="685800"/>
            <a:ext cx="6153150" cy="476250"/>
          </a:xfrm>
          <a:prstGeom prst="rect">
            <a:avLst/>
          </a:prstGeom>
          <a:noFill/>
        </p:spPr>
        <p:txBody>
          <a:bodyPr wrap="square" lIns="0" tIns="0" rIns="0" bIns="0" anchor="ctr">
            <a:noAutofit/>
          </a:bodyPr>
          <a:lstStyle/>
          <a:p>
            <a:pPr marL="0" indent="0" algn="l">
              <a:buNone/>
              <a:defRPr sz="2600" b="1">
                <a:solidFill>
                  <a:srgbClr val="F7FAFC"/>
                </a:solidFill>
                <a:latin typeface="Aptos"/>
                <a:ea typeface="Aptos"/>
                <a:cs typeface="Aptos"/>
              </a:defRPr>
            </a:pPr>
            <a:r>
              <a:rPr sz="2400" b="1" dirty="0">
                <a:solidFill>
                  <a:srgbClr val="F7FAFC"/>
                </a:solidFill>
                <a:latin typeface="Aptos"/>
                <a:ea typeface="Aptos"/>
                <a:cs typeface="Aptos"/>
              </a:rPr>
              <a:t>Working today. Ready to scale.</a:t>
            </a:r>
            <a:endParaRPr sz="2400" dirty="0"/>
          </a:p>
        </p:txBody>
      </p:sp>
      <p:sp>
        <p:nvSpPr>
          <p:cNvPr id="7" name="Text 2">
            <a:extLst>
              <a:ext uri="{FF2B5EF4-FFF2-40B4-BE49-F238E27FC236}">
                <a16:creationId xmlns:a16="http://schemas.microsoft.com/office/drawing/2014/main" id="{28AB82C4-65C0-4836-8C02-14325FAB06AB}"/>
              </a:ext>
            </a:extLst>
          </p:cNvPr>
          <p:cNvSpPr>
            <a:spLocks noGrp="1"/>
          </p:cNvSpPr>
          <p:nvPr/>
        </p:nvSpPr>
        <p:spPr>
          <a:xfrm>
            <a:off x="609600" y="1381125"/>
            <a:ext cx="3752850" cy="28575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800" b="1" spc="1" dirty="0">
                <a:solidFill>
                  <a:srgbClr val="00C8F8"/>
                </a:solidFill>
                <a:latin typeface="Aptos"/>
                <a:ea typeface="Aptos"/>
                <a:cs typeface="Aptos"/>
              </a:rPr>
              <a:t>PRODUCT TODAY</a:t>
            </a:r>
            <a:endParaRPr sz="750" dirty="0"/>
          </a:p>
        </p:txBody>
      </p:sp>
      <p:sp>
        <p:nvSpPr>
          <p:cNvPr id="8" name="Text 3">
            <a:extLst>
              <a:ext uri="{FF2B5EF4-FFF2-40B4-BE49-F238E27FC236}">
                <a16:creationId xmlns:a16="http://schemas.microsoft.com/office/drawing/2014/main" id="{7E9D414F-2DC5-4C23-973D-1C49161718E5}"/>
              </a:ext>
            </a:extLst>
          </p:cNvPr>
          <p:cNvSpPr>
            <a:spLocks noGrp="1"/>
          </p:cNvSpPr>
          <p:nvPr/>
        </p:nvSpPr>
        <p:spPr>
          <a:xfrm>
            <a:off x="609600" y="1794510"/>
            <a:ext cx="3752850" cy="46507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Hardware connected to the platform.</a:t>
            </a:r>
            <a:endParaRPr sz="850" dirty="0"/>
          </a:p>
        </p:txBody>
      </p:sp>
      <p:sp>
        <p:nvSpPr>
          <p:cNvPr id="9" name="Text 4">
            <a:extLst>
              <a:ext uri="{FF2B5EF4-FFF2-40B4-BE49-F238E27FC236}">
                <a16:creationId xmlns:a16="http://schemas.microsoft.com/office/drawing/2014/main" id="{31A98D35-43E3-4AEC-A7D2-0E9F0079E1A0}"/>
              </a:ext>
            </a:extLst>
          </p:cNvPr>
          <p:cNvSpPr>
            <a:spLocks noGrp="1"/>
          </p:cNvSpPr>
          <p:nvPr/>
        </p:nvSpPr>
        <p:spPr>
          <a:xfrm>
            <a:off x="609600" y="2213610"/>
            <a:ext cx="3752850" cy="46507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Motion and location readings live.</a:t>
            </a:r>
            <a:endParaRPr sz="850" dirty="0"/>
          </a:p>
        </p:txBody>
      </p:sp>
      <p:sp>
        <p:nvSpPr>
          <p:cNvPr id="10" name="Text 5">
            <a:extLst>
              <a:ext uri="{FF2B5EF4-FFF2-40B4-BE49-F238E27FC236}">
                <a16:creationId xmlns:a16="http://schemas.microsoft.com/office/drawing/2014/main" id="{9F77F4E8-E3BE-4977-899E-7A6D3DE44833}"/>
              </a:ext>
            </a:extLst>
          </p:cNvPr>
          <p:cNvSpPr>
            <a:spLocks noGrp="1"/>
          </p:cNvSpPr>
          <p:nvPr/>
        </p:nvSpPr>
        <p:spPr>
          <a:xfrm>
            <a:off x="609600" y="2632710"/>
            <a:ext cx="3752850" cy="46507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Likely-cause event classification.</a:t>
            </a:r>
            <a:endParaRPr sz="850" dirty="0"/>
          </a:p>
        </p:txBody>
      </p:sp>
      <p:sp>
        <p:nvSpPr>
          <p:cNvPr id="11" name="Text 6">
            <a:extLst>
              <a:ext uri="{FF2B5EF4-FFF2-40B4-BE49-F238E27FC236}">
                <a16:creationId xmlns:a16="http://schemas.microsoft.com/office/drawing/2014/main" id="{D8DDA70E-C780-4066-A5DD-3545908EA532}"/>
              </a:ext>
            </a:extLst>
          </p:cNvPr>
          <p:cNvSpPr>
            <a:spLocks noGrp="1"/>
          </p:cNvSpPr>
          <p:nvPr/>
        </p:nvSpPr>
        <p:spPr>
          <a:xfrm>
            <a:off x="609600" y="2990850"/>
            <a:ext cx="3752850" cy="46507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Clear supervisor dashboard.</a:t>
            </a:r>
            <a:endParaRPr sz="850" dirty="0"/>
          </a:p>
        </p:txBody>
      </p:sp>
      <p:sp>
        <p:nvSpPr>
          <p:cNvPr id="12" name="Text 7">
            <a:extLst>
              <a:ext uri="{FF2B5EF4-FFF2-40B4-BE49-F238E27FC236}">
                <a16:creationId xmlns:a16="http://schemas.microsoft.com/office/drawing/2014/main" id="{2DB247A8-1EA7-4148-9EA3-EC48F4643983}"/>
              </a:ext>
            </a:extLst>
          </p:cNvPr>
          <p:cNvSpPr>
            <a:spLocks noGrp="1"/>
          </p:cNvSpPr>
          <p:nvPr/>
        </p:nvSpPr>
        <p:spPr>
          <a:xfrm>
            <a:off x="4781550" y="1381125"/>
            <a:ext cx="3752850" cy="285750"/>
          </a:xfrm>
          <a:prstGeom prst="rect">
            <a:avLst/>
          </a:prstGeom>
          <a:noFill/>
        </p:spPr>
        <p:txBody>
          <a:bodyPr wrap="square" lIns="0" tIns="0" rIns="0" bIns="0" anchor="ctr">
            <a:noAutofit/>
          </a:bodyPr>
          <a:lstStyle/>
          <a:p>
            <a:pPr marL="0" indent="0" algn="l">
              <a:buNone/>
              <a:defRPr sz="1800" b="1">
                <a:solidFill>
                  <a:srgbClr val="37E6A6"/>
                </a:solidFill>
                <a:latin typeface="Aptos"/>
                <a:ea typeface="Aptos"/>
                <a:cs typeface="Aptos"/>
              </a:defRPr>
            </a:pPr>
            <a:r>
              <a:rPr sz="1800" b="1" spc="1">
                <a:solidFill>
                  <a:srgbClr val="37E6A6"/>
                </a:solidFill>
                <a:latin typeface="Aptos"/>
                <a:ea typeface="Aptos"/>
                <a:cs typeface="Aptos"/>
              </a:rPr>
              <a:t>NEXT DIRECTION</a:t>
            </a:r>
            <a:endParaRPr sz="750"/>
          </a:p>
        </p:txBody>
      </p:sp>
      <p:sp>
        <p:nvSpPr>
          <p:cNvPr id="13" name="Text 8">
            <a:extLst>
              <a:ext uri="{FF2B5EF4-FFF2-40B4-BE49-F238E27FC236}">
                <a16:creationId xmlns:a16="http://schemas.microsoft.com/office/drawing/2014/main" id="{C0A668B5-A8C4-4CF1-9BA7-44798FA02472}"/>
              </a:ext>
            </a:extLst>
          </p:cNvPr>
          <p:cNvSpPr>
            <a:spLocks noGrp="1"/>
          </p:cNvSpPr>
          <p:nvPr/>
        </p:nvSpPr>
        <p:spPr>
          <a:xfrm>
            <a:off x="4781550" y="1794510"/>
            <a:ext cx="3752850" cy="46507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Expand to more vehicles and fleets.</a:t>
            </a:r>
            <a:endParaRPr sz="850" dirty="0"/>
          </a:p>
        </p:txBody>
      </p:sp>
      <p:sp>
        <p:nvSpPr>
          <p:cNvPr id="14" name="Text 9">
            <a:extLst>
              <a:ext uri="{FF2B5EF4-FFF2-40B4-BE49-F238E27FC236}">
                <a16:creationId xmlns:a16="http://schemas.microsoft.com/office/drawing/2014/main" id="{12670DA4-577E-424A-BA29-7A3876C448F7}"/>
              </a:ext>
            </a:extLst>
          </p:cNvPr>
          <p:cNvSpPr>
            <a:spLocks noGrp="1"/>
          </p:cNvSpPr>
          <p:nvPr/>
        </p:nvSpPr>
        <p:spPr>
          <a:xfrm>
            <a:off x="4781550" y="2213610"/>
            <a:ext cx="3752850" cy="46507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Improve models with accumulated data.</a:t>
            </a:r>
            <a:endParaRPr sz="850" dirty="0"/>
          </a:p>
        </p:txBody>
      </p:sp>
      <p:sp>
        <p:nvSpPr>
          <p:cNvPr id="15" name="Text 10">
            <a:extLst>
              <a:ext uri="{FF2B5EF4-FFF2-40B4-BE49-F238E27FC236}">
                <a16:creationId xmlns:a16="http://schemas.microsoft.com/office/drawing/2014/main" id="{E40C20A8-D1AA-45FE-B42B-843E305FBA8E}"/>
              </a:ext>
            </a:extLst>
          </p:cNvPr>
          <p:cNvSpPr>
            <a:spLocks noGrp="1"/>
          </p:cNvSpPr>
          <p:nvPr/>
        </p:nvSpPr>
        <p:spPr>
          <a:xfrm>
            <a:off x="4781550" y="2632710"/>
            <a:ext cx="3752850" cy="46507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Support operators and authorities.</a:t>
            </a:r>
            <a:endParaRPr sz="850" dirty="0"/>
          </a:p>
        </p:txBody>
      </p:sp>
      <p:sp>
        <p:nvSpPr>
          <p:cNvPr id="16" name="Text 11">
            <a:extLst>
              <a:ext uri="{FF2B5EF4-FFF2-40B4-BE49-F238E27FC236}">
                <a16:creationId xmlns:a16="http://schemas.microsoft.com/office/drawing/2014/main" id="{C22C8A90-E0CB-4E9E-A2BF-16556D76B229}"/>
              </a:ext>
            </a:extLst>
          </p:cNvPr>
          <p:cNvSpPr>
            <a:spLocks noGrp="1"/>
          </p:cNvSpPr>
          <p:nvPr/>
        </p:nvSpPr>
        <p:spPr>
          <a:xfrm>
            <a:off x="4781550" y="2891790"/>
            <a:ext cx="3752850" cy="708914"/>
          </a:xfrm>
          <a:prstGeom prst="rect">
            <a:avLst/>
          </a:prstGeom>
          <a:noFill/>
        </p:spPr>
        <p:txBody>
          <a:bodyPr wrap="square" lIns="0" tIns="0" rIns="0" bIns="0" anchor="ctr">
            <a:noAutofit/>
          </a:bodyPr>
          <a:lstStyle/>
          <a:p>
            <a:pPr marL="0" indent="0" algn="l">
              <a:buNone/>
              <a:defRPr sz="1600" b="0">
                <a:solidFill>
                  <a:srgbClr val="BBC6D4"/>
                </a:solidFill>
                <a:latin typeface="Aptos"/>
                <a:ea typeface="Aptos"/>
                <a:cs typeface="Aptos"/>
              </a:defRPr>
            </a:pPr>
            <a:r>
              <a:rPr sz="1600" b="0" dirty="0">
                <a:solidFill>
                  <a:srgbClr val="BBC6D4"/>
                </a:solidFill>
                <a:latin typeface="Aptos"/>
                <a:ea typeface="Aptos"/>
                <a:cs typeface="Aptos"/>
              </a:rPr>
              <a:t>• Scale Road Memory across the network.</a:t>
            </a:r>
            <a:endParaRPr sz="850" dirty="0"/>
          </a:p>
        </p:txBody>
      </p:sp>
      <p:sp>
        <p:nvSpPr>
          <p:cNvPr id="17" name="Text 12">
            <a:extLst>
              <a:ext uri="{FF2B5EF4-FFF2-40B4-BE49-F238E27FC236}">
                <a16:creationId xmlns:a16="http://schemas.microsoft.com/office/drawing/2014/main" id="{5986CB1A-DFA6-46C9-8FBB-A17328C75103}"/>
              </a:ext>
            </a:extLst>
          </p:cNvPr>
          <p:cNvSpPr>
            <a:spLocks noGrp="1"/>
          </p:cNvSpPr>
          <p:nvPr/>
        </p:nvSpPr>
        <p:spPr>
          <a:xfrm>
            <a:off x="609600" y="3790950"/>
            <a:ext cx="7924800" cy="419100"/>
          </a:xfrm>
          <a:prstGeom prst="rect">
            <a:avLst/>
          </a:prstGeom>
          <a:noFill/>
        </p:spPr>
        <p:txBody>
          <a:bodyPr wrap="square" lIns="0" tIns="0" rIns="0" bIns="0" anchor="ctr">
            <a:noAutofit/>
          </a:bodyPr>
          <a:lstStyle/>
          <a:p>
            <a:pPr marL="0" indent="0" algn="l">
              <a:buNone/>
              <a:defRPr sz="2200" b="1">
                <a:solidFill>
                  <a:srgbClr val="F7FAFC"/>
                </a:solidFill>
                <a:latin typeface="Aptos"/>
                <a:ea typeface="Aptos"/>
                <a:cs typeface="Aptos"/>
              </a:defRPr>
            </a:pPr>
            <a:r>
              <a:rPr sz="2200" b="1" dirty="0">
                <a:solidFill>
                  <a:srgbClr val="F7FAFC"/>
                </a:solidFill>
                <a:latin typeface="Aptos"/>
                <a:ea typeface="Aptos"/>
                <a:cs typeface="Aptos"/>
              </a:rPr>
              <a:t>RoadPulse-AI — vehicle signals into safer decisions</a:t>
            </a:r>
            <a:endParaRPr sz="1200" dirty="0"/>
          </a:p>
        </p:txBody>
      </p:sp>
      <p:sp>
        <p:nvSpPr>
          <p:cNvPr id="18" name="Text 13">
            <a:extLst>
              <a:ext uri="{FF2B5EF4-FFF2-40B4-BE49-F238E27FC236}">
                <a16:creationId xmlns:a16="http://schemas.microsoft.com/office/drawing/2014/main" id="{ED79291B-4EA2-4162-B290-5972B9208143}"/>
              </a:ext>
            </a:extLst>
          </p:cNvPr>
          <p:cNvSpPr>
            <a:spLocks noGrp="1"/>
          </p:cNvSpPr>
          <p:nvPr/>
        </p:nvSpPr>
        <p:spPr>
          <a:xfrm>
            <a:off x="609600" y="4229100"/>
            <a:ext cx="7924800" cy="342900"/>
          </a:xfrm>
          <a:prstGeom prst="rect">
            <a:avLst/>
          </a:prstGeom>
          <a:noFill/>
        </p:spPr>
        <p:txBody>
          <a:bodyPr wrap="square" lIns="0" tIns="0" rIns="0" bIns="0" anchor="ctr">
            <a:noAutofit/>
          </a:bodyPr>
          <a:lstStyle/>
          <a:p>
            <a:pPr marL="0" indent="0" algn="l">
              <a:buNone/>
              <a:defRPr sz="1800" b="1">
                <a:solidFill>
                  <a:srgbClr val="00C8F8"/>
                </a:solidFill>
                <a:latin typeface="Aptos"/>
                <a:ea typeface="Aptos"/>
                <a:cs typeface="Aptos"/>
              </a:defRPr>
            </a:pPr>
            <a:r>
              <a:rPr sz="1800" b="1" dirty="0">
                <a:solidFill>
                  <a:srgbClr val="00C8F8"/>
                </a:solidFill>
                <a:latin typeface="Aptos"/>
                <a:ea typeface="Aptos"/>
                <a:cs typeface="Aptos"/>
              </a:rPr>
              <a:t>Thank you — </a:t>
            </a:r>
            <a:r>
              <a:rPr lang="en-US" sz="1800" b="1" dirty="0">
                <a:solidFill>
                  <a:srgbClr val="00C8F8"/>
                </a:solidFill>
                <a:latin typeface="Aptos"/>
                <a:ea typeface="Aptos"/>
                <a:cs typeface="Aptos"/>
              </a:rPr>
              <a:t>Any Questions ?! </a:t>
            </a:r>
            <a:endParaRPr sz="950" dirty="0"/>
          </a:p>
        </p:txBody>
      </p:sp>
      <p:sp>
        <p:nvSpPr>
          <p:cNvPr id="19" name="Shape 14">
            <a:extLst>
              <a:ext uri="{FF2B5EF4-FFF2-40B4-BE49-F238E27FC236}">
                <a16:creationId xmlns:a16="http://schemas.microsoft.com/office/drawing/2014/main" id="{D7D7F53A-422E-4D1E-BFA4-4AA97F6C9105}"/>
              </a:ext>
            </a:extLst>
          </p:cNvPr>
          <p:cNvSpPr>
            <a:spLocks noGrp="1"/>
          </p:cNvSpPr>
          <p:nvPr/>
        </p:nvSpPr>
        <p:spPr>
          <a:xfrm>
            <a:off x="614363" y="4793456"/>
            <a:ext cx="7915275" cy="178594"/>
          </a:xfrm>
          <a:prstGeom prst="rect">
            <a:avLst/>
          </a:prstGeom>
          <a:solidFill>
            <a:srgbClr val="000000">
              <a:alpha val="0"/>
            </a:srgbClr>
          </a:solidFill>
        </p:spPr>
        <p:txBody>
          <a:bodyPr/>
          <a:lstStyle/>
          <a:p>
            <a:endParaRPr lang="en-US"/>
          </a:p>
        </p:txBody>
      </p:sp>
      <p:sp>
        <p:nvSpPr>
          <p:cNvPr id="20" name="Shape 15">
            <a:extLst>
              <a:ext uri="{FF2B5EF4-FFF2-40B4-BE49-F238E27FC236}">
                <a16:creationId xmlns:a16="http://schemas.microsoft.com/office/drawing/2014/main" id="{DBDA1856-F348-40B5-A394-7817301363AE}"/>
              </a:ext>
            </a:extLst>
          </p:cNvPr>
          <p:cNvSpPr>
            <a:spLocks noGrp="1"/>
          </p:cNvSpPr>
          <p:nvPr/>
        </p:nvSpPr>
        <p:spPr>
          <a:xfrm>
            <a:off x="614363" y="4793456"/>
            <a:ext cx="7915275" cy="7144"/>
          </a:xfrm>
          <a:prstGeom prst="rect">
            <a:avLst/>
          </a:prstGeom>
          <a:solidFill>
            <a:srgbClr val="FFFFFF"/>
          </a:solidFill>
        </p:spPr>
        <p:txBody>
          <a:bodyPr/>
          <a:lstStyle/>
          <a:p>
            <a:endParaRPr lang="en-US"/>
          </a:p>
        </p:txBody>
      </p:sp>
      <p:sp>
        <p:nvSpPr>
          <p:cNvPr id="21" name="Text 16">
            <a:extLst>
              <a:ext uri="{FF2B5EF4-FFF2-40B4-BE49-F238E27FC236}">
                <a16:creationId xmlns:a16="http://schemas.microsoft.com/office/drawing/2014/main" id="{5A994B27-F82B-4892-9E9B-DE488E43034C}"/>
              </a:ext>
            </a:extLst>
          </p:cNvPr>
          <p:cNvSpPr>
            <a:spLocks noGrp="1"/>
          </p:cNvSpPr>
          <p:nvPr/>
        </p:nvSpPr>
        <p:spPr>
          <a:xfrm>
            <a:off x="609600" y="4829175"/>
            <a:ext cx="2000250" cy="152400"/>
          </a:xfrm>
          <a:prstGeom prst="rect">
            <a:avLst/>
          </a:prstGeom>
          <a:noFill/>
        </p:spPr>
        <p:txBody>
          <a:bodyPr wrap="square" lIns="0" tIns="0" rIns="0" bIns="0" anchor="ctr">
            <a:noAutofit/>
          </a:bodyPr>
          <a:lstStyle/>
          <a:p>
            <a:pPr marL="0" indent="0" algn="l">
              <a:buNone/>
              <a:defRPr sz="800" b="0">
                <a:solidFill>
                  <a:srgbClr val="8FA0B3"/>
                </a:solidFill>
                <a:latin typeface="Aptos"/>
                <a:ea typeface="Aptos"/>
                <a:cs typeface="Aptos"/>
              </a:defRPr>
            </a:pPr>
            <a:r>
              <a:rPr sz="800" b="0">
                <a:solidFill>
                  <a:srgbClr val="8FA0B3"/>
                </a:solidFill>
                <a:latin typeface="Aptos"/>
                <a:ea typeface="Aptos"/>
                <a:cs typeface="Aptos"/>
              </a:rPr>
              <a:t>RoadPulse-AI · Change The Future</a:t>
            </a:r>
            <a:endParaRPr sz="600"/>
          </a:p>
        </p:txBody>
      </p:sp>
      <p:sp>
        <p:nvSpPr>
          <p:cNvPr id="22" name="Text 17">
            <a:extLst>
              <a:ext uri="{FF2B5EF4-FFF2-40B4-BE49-F238E27FC236}">
                <a16:creationId xmlns:a16="http://schemas.microsoft.com/office/drawing/2014/main" id="{EFF104BA-5C3C-47F3-B243-6531F19F1EDC}"/>
              </a:ext>
            </a:extLst>
          </p:cNvPr>
          <p:cNvSpPr>
            <a:spLocks noGrp="1"/>
          </p:cNvSpPr>
          <p:nvPr/>
        </p:nvSpPr>
        <p:spPr>
          <a:xfrm>
            <a:off x="8096250" y="4829175"/>
            <a:ext cx="438150" cy="152400"/>
          </a:xfrm>
          <a:prstGeom prst="rect">
            <a:avLst/>
          </a:prstGeom>
          <a:noFill/>
        </p:spPr>
        <p:txBody>
          <a:bodyPr wrap="square" lIns="0" tIns="0" rIns="0" bIns="0" anchor="ctr">
            <a:noAutofit/>
          </a:bodyPr>
          <a:lstStyle/>
          <a:p>
            <a:pPr marL="0" indent="0" algn="r">
              <a:buNone/>
              <a:defRPr sz="800" b="0">
                <a:solidFill>
                  <a:srgbClr val="8FA0B3"/>
                </a:solidFill>
                <a:latin typeface="Aptos"/>
                <a:ea typeface="Aptos"/>
                <a:cs typeface="Aptos"/>
              </a:defRPr>
            </a:pPr>
            <a:r>
              <a:rPr sz="800" b="0">
                <a:solidFill>
                  <a:srgbClr val="8FA0B3"/>
                </a:solidFill>
                <a:latin typeface="Aptos"/>
                <a:ea typeface="Aptos"/>
                <a:cs typeface="Aptos"/>
              </a:rPr>
              <a:t>10 / 10</a:t>
            </a:r>
            <a:endParaRPr sz="600"/>
          </a:p>
        </p:txBody>
      </p:sp>
    </p:spTree>
    <p:extLst>
      <p:ext uri="{BB962C8B-B14F-4D97-AF65-F5344CB8AC3E}">
        <p14:creationId xmlns:p14="http://schemas.microsoft.com/office/powerpoint/2010/main" val="50823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1444</Words>
  <Application>Microsoft Office PowerPoint</Application>
  <DocSecurity>0</DocSecurity>
  <PresentationFormat>On-screen Show (16:9)</PresentationFormat>
  <Paragraphs>195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Mohammad Wasfi Abdel Razzaq Alkharabsheh</cp:lastModifiedBy>
  <cp:revision>7</cp:revision>
  <dcterms:created xsi:type="dcterms:W3CDTF">2026-09-02T17:22:57Z</dcterms:created>
  <dcterms:modified xsi:type="dcterms:W3CDTF">2026-09-02T18:45:06Z</dcterms:modified>
</cp:coreProperties>
</file>